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4"/>
  </p:notesMasterIdLst>
  <p:sldIdLst>
    <p:sldId id="281" r:id="rId2"/>
    <p:sldId id="284" r:id="rId3"/>
    <p:sldId id="287" r:id="rId4"/>
    <p:sldId id="283" r:id="rId5"/>
    <p:sldId id="282" r:id="rId6"/>
    <p:sldId id="285" r:id="rId7"/>
    <p:sldId id="286" r:id="rId8"/>
    <p:sldId id="288" r:id="rId9"/>
    <p:sldId id="298" r:id="rId10"/>
    <p:sldId id="289" r:id="rId11"/>
    <p:sldId id="290" r:id="rId12"/>
    <p:sldId id="302" r:id="rId13"/>
    <p:sldId id="303" r:id="rId14"/>
    <p:sldId id="299" r:id="rId15"/>
    <p:sldId id="291" r:id="rId16"/>
    <p:sldId id="300" r:id="rId17"/>
    <p:sldId id="301" r:id="rId18"/>
    <p:sldId id="292" r:id="rId19"/>
    <p:sldId id="293" r:id="rId20"/>
    <p:sldId id="294" r:id="rId21"/>
    <p:sldId id="295" r:id="rId22"/>
    <p:sldId id="29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48267-30C3-4597-A420-6B4D8F521897}" type="datetimeFigureOut">
              <a:rPr lang="en-IN" smtClean="0"/>
              <a:t>12-10-2025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1CA7B-730A-466C-BFFF-25684FC464A4}" type="slidenum">
              <a:rPr lang="en-IN" smtClean="0"/>
              <a:t>‹#›</a:t>
            </a:fld>
            <a:endParaRPr lang="en-IN"/>
          </a:p>
        </p:txBody>
      </p:sp>
    </p:spTree>
    <p:extLst>
      <p:ext uri="{BB962C8B-B14F-4D97-AF65-F5344CB8AC3E}">
        <p14:creationId xmlns:p14="http://schemas.microsoft.com/office/powerpoint/2010/main" val="4034424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D6B016-3A72-4FB9-8F78-DC44F8270668}" type="datetime1">
              <a:rPr lang="en-IN" smtClean="0"/>
              <a:t>12-10-2025</a:t>
            </a:fld>
            <a:endParaRPr lang="en-IN"/>
          </a:p>
        </p:txBody>
      </p:sp>
      <p:sp>
        <p:nvSpPr>
          <p:cNvPr id="5" name="Footer Placeholder 4"/>
          <p:cNvSpPr>
            <a:spLocks noGrp="1"/>
          </p:cNvSpPr>
          <p:nvPr>
            <p:ph type="ftr" sz="quarter" idx="11"/>
          </p:nvPr>
        </p:nvSpPr>
        <p:spPr/>
        <p:txBody>
          <a:bodyPr/>
          <a:lstStyle/>
          <a:p>
            <a:r>
              <a:rPr lang="en-US"/>
              <a:t>VHS Career Training Pvt.Ltd</a:t>
            </a:r>
            <a:endParaRPr lang="en-IN"/>
          </a:p>
        </p:txBody>
      </p:sp>
      <p:sp>
        <p:nvSpPr>
          <p:cNvPr id="6" name="Slide Number Placeholder 5"/>
          <p:cNvSpPr>
            <a:spLocks noGrp="1"/>
          </p:cNvSpPr>
          <p:nvPr>
            <p:ph type="sldNum" sz="quarter" idx="12"/>
          </p:nvPr>
        </p:nvSpPr>
        <p:spPr/>
        <p:txBody>
          <a:bodyPr/>
          <a:lstStyle/>
          <a:p>
            <a:fld id="{96B25217-7B33-4CF6-9B9E-82FF272E23C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004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D14C39-26D5-45C1-8D5F-11F815729DCF}" type="datetime1">
              <a:rPr lang="en-IN" smtClean="0"/>
              <a:t>12-10-2025</a:t>
            </a:fld>
            <a:endParaRPr lang="en-IN"/>
          </a:p>
        </p:txBody>
      </p:sp>
      <p:sp>
        <p:nvSpPr>
          <p:cNvPr id="5" name="Footer Placeholder 4"/>
          <p:cNvSpPr>
            <a:spLocks noGrp="1"/>
          </p:cNvSpPr>
          <p:nvPr>
            <p:ph type="ftr" sz="quarter" idx="11"/>
          </p:nvPr>
        </p:nvSpPr>
        <p:spPr/>
        <p:txBody>
          <a:bodyPr/>
          <a:lstStyle/>
          <a:p>
            <a:r>
              <a:rPr lang="en-US"/>
              <a:t>VHS Career Training Pvt.Ltd</a:t>
            </a:r>
            <a:endParaRPr lang="en-IN"/>
          </a:p>
        </p:txBody>
      </p:sp>
      <p:sp>
        <p:nvSpPr>
          <p:cNvPr id="6" name="Slide Number Placeholder 5"/>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3595364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1517D-A16A-42D2-9250-F228B03AE5D9}" type="datetime1">
              <a:rPr lang="en-IN" smtClean="0"/>
              <a:t>12-10-2025</a:t>
            </a:fld>
            <a:endParaRPr lang="en-IN"/>
          </a:p>
        </p:txBody>
      </p:sp>
      <p:sp>
        <p:nvSpPr>
          <p:cNvPr id="5" name="Footer Placeholder 4"/>
          <p:cNvSpPr>
            <a:spLocks noGrp="1"/>
          </p:cNvSpPr>
          <p:nvPr>
            <p:ph type="ftr" sz="quarter" idx="11"/>
          </p:nvPr>
        </p:nvSpPr>
        <p:spPr/>
        <p:txBody>
          <a:bodyPr/>
          <a:lstStyle/>
          <a:p>
            <a:r>
              <a:rPr lang="en-US"/>
              <a:t>VHS Career Training Pvt.Ltd</a:t>
            </a:r>
            <a:endParaRPr lang="en-IN"/>
          </a:p>
        </p:txBody>
      </p:sp>
      <p:sp>
        <p:nvSpPr>
          <p:cNvPr id="6" name="Slide Number Placeholder 5"/>
          <p:cNvSpPr>
            <a:spLocks noGrp="1"/>
          </p:cNvSpPr>
          <p:nvPr>
            <p:ph type="sldNum" sz="quarter" idx="12"/>
          </p:nvPr>
        </p:nvSpPr>
        <p:spPr/>
        <p:txBody>
          <a:bodyPr/>
          <a:lstStyle/>
          <a:p>
            <a:fld id="{96B25217-7B33-4CF6-9B9E-82FF272E23C8}"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596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A6EB22-687A-444A-8B78-8000FB5FB982}" type="datetime1">
              <a:rPr lang="en-IN" smtClean="0"/>
              <a:t>12-10-2025</a:t>
            </a:fld>
            <a:endParaRPr lang="en-IN"/>
          </a:p>
        </p:txBody>
      </p:sp>
      <p:sp>
        <p:nvSpPr>
          <p:cNvPr id="6" name="Footer Placeholder 5"/>
          <p:cNvSpPr>
            <a:spLocks noGrp="1"/>
          </p:cNvSpPr>
          <p:nvPr>
            <p:ph type="ftr" sz="quarter" idx="11"/>
          </p:nvPr>
        </p:nvSpPr>
        <p:spPr/>
        <p:txBody>
          <a:bodyPr/>
          <a:lstStyle/>
          <a:p>
            <a:r>
              <a:rPr lang="en-US"/>
              <a:t>VHS Career Training Pvt.Ltd</a:t>
            </a:r>
            <a:endParaRPr lang="en-IN"/>
          </a:p>
        </p:txBody>
      </p:sp>
      <p:sp>
        <p:nvSpPr>
          <p:cNvPr id="7" name="Slide Number Placeholder 6"/>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3639064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ABA544-3244-4FA8-A1BC-A93BA3BCB3FC}" type="datetime1">
              <a:rPr lang="en-IN" smtClean="0"/>
              <a:t>12-10-2025</a:t>
            </a:fld>
            <a:endParaRPr lang="en-IN"/>
          </a:p>
        </p:txBody>
      </p:sp>
      <p:sp>
        <p:nvSpPr>
          <p:cNvPr id="8" name="Footer Placeholder 7"/>
          <p:cNvSpPr>
            <a:spLocks noGrp="1"/>
          </p:cNvSpPr>
          <p:nvPr>
            <p:ph type="ftr" sz="quarter" idx="11"/>
          </p:nvPr>
        </p:nvSpPr>
        <p:spPr/>
        <p:txBody>
          <a:bodyPr/>
          <a:lstStyle/>
          <a:p>
            <a:r>
              <a:rPr lang="en-US"/>
              <a:t>VHS Career Training Pvt.Ltd</a:t>
            </a:r>
            <a:endParaRPr lang="en-IN"/>
          </a:p>
        </p:txBody>
      </p:sp>
      <p:sp>
        <p:nvSpPr>
          <p:cNvPr id="9" name="Slide Number Placeholder 8"/>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3024664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081151-F7D1-45CF-879E-77252E0893B9}" type="datetime1">
              <a:rPr lang="en-IN" smtClean="0"/>
              <a:t>12-10-2025</a:t>
            </a:fld>
            <a:endParaRPr lang="en-IN"/>
          </a:p>
        </p:txBody>
      </p:sp>
      <p:sp>
        <p:nvSpPr>
          <p:cNvPr id="4" name="Footer Placeholder 3"/>
          <p:cNvSpPr>
            <a:spLocks noGrp="1"/>
          </p:cNvSpPr>
          <p:nvPr>
            <p:ph type="ftr" sz="quarter" idx="11"/>
          </p:nvPr>
        </p:nvSpPr>
        <p:spPr/>
        <p:txBody>
          <a:bodyPr/>
          <a:lstStyle/>
          <a:p>
            <a:r>
              <a:rPr lang="en-US"/>
              <a:t>VHS Career Training Pvt.Ltd</a:t>
            </a:r>
            <a:endParaRPr lang="en-IN"/>
          </a:p>
        </p:txBody>
      </p:sp>
      <p:sp>
        <p:nvSpPr>
          <p:cNvPr id="5" name="Slide Number Placeholder 4"/>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1256835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4049C72-9C3E-4D11-AC77-B62C1F62D3A3}" type="datetime1">
              <a:rPr lang="en-IN" smtClean="0"/>
              <a:t>12-10-2025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VHS Career Training Pvt.Ltd</a:t>
            </a:r>
            <a:endParaRPr lang="en-IN"/>
          </a:p>
        </p:txBody>
      </p:sp>
      <p:sp>
        <p:nvSpPr>
          <p:cNvPr id="9" name="Slide Number Placeholder 8"/>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2076403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FADA395-1CE9-4086-A759-C880CA09130C}" type="datetime1">
              <a:rPr lang="en-IN" smtClean="0"/>
              <a:t>12-10-2025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VHS Career Training Pvt.Ltd</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6B25217-7B33-4CF6-9B9E-82FF272E23C8}" type="slidenum">
              <a:rPr lang="en-IN" smtClean="0"/>
              <a:t>‹#›</a:t>
            </a:fld>
            <a:endParaRPr lang="en-IN"/>
          </a:p>
        </p:txBody>
      </p:sp>
    </p:spTree>
    <p:extLst>
      <p:ext uri="{BB962C8B-B14F-4D97-AF65-F5344CB8AC3E}">
        <p14:creationId xmlns:p14="http://schemas.microsoft.com/office/powerpoint/2010/main" val="66857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5EE472-5E71-477C-95BA-DC0607DE3906}" type="datetime1">
              <a:rPr lang="en-IN" smtClean="0"/>
              <a:t>12-10-2025</a:t>
            </a:fld>
            <a:endParaRPr lang="en-IN"/>
          </a:p>
        </p:txBody>
      </p:sp>
      <p:sp>
        <p:nvSpPr>
          <p:cNvPr id="6" name="Footer Placeholder 5"/>
          <p:cNvSpPr>
            <a:spLocks noGrp="1"/>
          </p:cNvSpPr>
          <p:nvPr>
            <p:ph type="ftr" sz="quarter" idx="11"/>
          </p:nvPr>
        </p:nvSpPr>
        <p:spPr/>
        <p:txBody>
          <a:bodyPr/>
          <a:lstStyle/>
          <a:p>
            <a:r>
              <a:rPr lang="en-US"/>
              <a:t>VHS Career Training Pvt.Ltd</a:t>
            </a:r>
            <a:endParaRPr lang="en-IN"/>
          </a:p>
        </p:txBody>
      </p:sp>
      <p:sp>
        <p:nvSpPr>
          <p:cNvPr id="7" name="Slide Number Placeholder 6"/>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4030478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499EDC-BD53-4693-AB09-EA7D3A695528}" type="datetime1">
              <a:rPr lang="en-IN" smtClean="0"/>
              <a:t>12-10-2025</a:t>
            </a:fld>
            <a:endParaRPr lang="en-IN"/>
          </a:p>
        </p:txBody>
      </p:sp>
      <p:sp>
        <p:nvSpPr>
          <p:cNvPr id="5" name="Footer Placeholder 4"/>
          <p:cNvSpPr>
            <a:spLocks noGrp="1"/>
          </p:cNvSpPr>
          <p:nvPr>
            <p:ph type="ftr" sz="quarter" idx="11"/>
          </p:nvPr>
        </p:nvSpPr>
        <p:spPr/>
        <p:txBody>
          <a:bodyPr/>
          <a:lstStyle/>
          <a:p>
            <a:r>
              <a:rPr lang="en-US"/>
              <a:t>VHS Career Training Pvt.Ltd</a:t>
            </a:r>
            <a:endParaRPr lang="en-IN"/>
          </a:p>
        </p:txBody>
      </p:sp>
      <p:sp>
        <p:nvSpPr>
          <p:cNvPr id="6" name="Slide Number Placeholder 5"/>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326343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9CA7EB-CA45-492B-B17D-0E60A13089E2}" type="datetime1">
              <a:rPr lang="en-IN" smtClean="0"/>
              <a:t>12-10-2025</a:t>
            </a:fld>
            <a:endParaRPr lang="en-IN"/>
          </a:p>
        </p:txBody>
      </p:sp>
      <p:sp>
        <p:nvSpPr>
          <p:cNvPr id="5" name="Footer Placeholder 4"/>
          <p:cNvSpPr>
            <a:spLocks noGrp="1"/>
          </p:cNvSpPr>
          <p:nvPr>
            <p:ph type="ftr" sz="quarter" idx="11"/>
          </p:nvPr>
        </p:nvSpPr>
        <p:spPr/>
        <p:txBody>
          <a:bodyPr/>
          <a:lstStyle/>
          <a:p>
            <a:r>
              <a:rPr lang="en-US"/>
              <a:t>VHS Career Training Pvt.Ltd</a:t>
            </a:r>
            <a:endParaRPr lang="en-IN"/>
          </a:p>
        </p:txBody>
      </p:sp>
      <p:sp>
        <p:nvSpPr>
          <p:cNvPr id="6" name="Slide Number Placeholder 5"/>
          <p:cNvSpPr>
            <a:spLocks noGrp="1"/>
          </p:cNvSpPr>
          <p:nvPr>
            <p:ph type="sldNum" sz="quarter" idx="12"/>
          </p:nvPr>
        </p:nvSpPr>
        <p:spPr/>
        <p:txBody>
          <a:bodyPr/>
          <a:lstStyle/>
          <a:p>
            <a:fld id="{96B25217-7B33-4CF6-9B9E-82FF272E23C8}" type="slidenum">
              <a:rPr lang="en-IN" smtClean="0"/>
              <a:t>‹#›</a:t>
            </a:fld>
            <a:endParaRPr lang="en-IN"/>
          </a:p>
        </p:txBody>
      </p:sp>
    </p:spTree>
    <p:extLst>
      <p:ext uri="{BB962C8B-B14F-4D97-AF65-F5344CB8AC3E}">
        <p14:creationId xmlns:p14="http://schemas.microsoft.com/office/powerpoint/2010/main" val="97654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8700E5A-15D0-4BBD-87DD-B65D063E359C}" type="datetime1">
              <a:rPr lang="en-IN" smtClean="0"/>
              <a:t>12-10-2025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VHS Career Training Pvt.Ltd</a:t>
            </a:r>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6B25217-7B33-4CF6-9B9E-82FF272E23C8}"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859175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scm.com/docs/git" TargetMode="External"/><Relationship Id="rId2" Type="http://schemas.openxmlformats.org/officeDocument/2006/relationships/hyperlink" Target="https://www.atlassian.com/git/glossary#commands" TargetMode="External"/><Relationship Id="rId1" Type="http://schemas.openxmlformats.org/officeDocument/2006/relationships/slideLayout" Target="../slideLayouts/slideLayout2.xml"/><Relationship Id="rId5" Type="http://schemas.openxmlformats.org/officeDocument/2006/relationships/hyperlink" Target="https://www.javatpoint.com/git-commands" TargetMode="External"/><Relationship Id="rId4" Type="http://schemas.openxmlformats.org/officeDocument/2006/relationships/hyperlink" Target="https://dzone.com/articles/top-20-git-commands-with-examp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3560-F392-545F-3DA5-92D9AF4B9359}"/>
              </a:ext>
            </a:extLst>
          </p:cNvPr>
          <p:cNvSpPr>
            <a:spLocks noGrp="1"/>
          </p:cNvSpPr>
          <p:nvPr>
            <p:ph type="title"/>
          </p:nvPr>
        </p:nvSpPr>
        <p:spPr/>
        <p:txBody>
          <a:bodyPr/>
          <a:lstStyle/>
          <a:p>
            <a:r>
              <a:rPr lang="en-IN" dirty="0"/>
              <a:t>GitHub</a:t>
            </a:r>
          </a:p>
        </p:txBody>
      </p:sp>
      <p:pic>
        <p:nvPicPr>
          <p:cNvPr id="1026" name="Picture 2" descr="What is GitHub And How To Use It? [Updated]">
            <a:extLst>
              <a:ext uri="{FF2B5EF4-FFF2-40B4-BE49-F238E27FC236}">
                <a16:creationId xmlns:a16="http://schemas.microsoft.com/office/drawing/2014/main" id="{3CA569F8-B7D7-7BD6-F55B-B393DB072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899" y="1950068"/>
            <a:ext cx="5661738" cy="317057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7C8076A-1E66-C00B-EB29-D75BDB640575}"/>
              </a:ext>
            </a:extLst>
          </p:cNvPr>
          <p:cNvSpPr/>
          <p:nvPr/>
        </p:nvSpPr>
        <p:spPr>
          <a:xfrm>
            <a:off x="1623527" y="2248678"/>
            <a:ext cx="1110342" cy="2425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lide Number Placeholder 4">
            <a:extLst>
              <a:ext uri="{FF2B5EF4-FFF2-40B4-BE49-F238E27FC236}">
                <a16:creationId xmlns:a16="http://schemas.microsoft.com/office/drawing/2014/main" id="{60F4B76C-BAC4-53E6-26AA-61A8587A0BB1}"/>
              </a:ext>
            </a:extLst>
          </p:cNvPr>
          <p:cNvSpPr>
            <a:spLocks noGrp="1"/>
          </p:cNvSpPr>
          <p:nvPr>
            <p:ph type="sldNum" sz="quarter" idx="12"/>
          </p:nvPr>
        </p:nvSpPr>
        <p:spPr/>
        <p:txBody>
          <a:bodyPr/>
          <a:lstStyle/>
          <a:p>
            <a:fld id="{96B25217-7B33-4CF6-9B9E-82FF272E23C8}" type="slidenum">
              <a:rPr lang="en-IN" smtClean="0"/>
              <a:t>1</a:t>
            </a:fld>
            <a:endParaRPr lang="en-IN"/>
          </a:p>
        </p:txBody>
      </p:sp>
    </p:spTree>
    <p:extLst>
      <p:ext uri="{BB962C8B-B14F-4D97-AF65-F5344CB8AC3E}">
        <p14:creationId xmlns:p14="http://schemas.microsoft.com/office/powerpoint/2010/main" val="190866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Version Control system: Enhancing Collaboration and Efficiency🌈 | by  Sowmiya Shankar | Medium">
            <a:extLst>
              <a:ext uri="{FF2B5EF4-FFF2-40B4-BE49-F238E27FC236}">
                <a16:creationId xmlns:a16="http://schemas.microsoft.com/office/drawing/2014/main" id="{6EC61241-888D-80B2-EFAC-2CDD4F9026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0"/>
            <a:ext cx="12184062"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DEB4600-620F-AEF2-CECD-31CCEC7BAF00}"/>
              </a:ext>
            </a:extLst>
          </p:cNvPr>
          <p:cNvSpPr/>
          <p:nvPr/>
        </p:nvSpPr>
        <p:spPr>
          <a:xfrm>
            <a:off x="7240555" y="5495731"/>
            <a:ext cx="4366727" cy="11943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2" name="Footer Placeholder 1">
            <a:extLst>
              <a:ext uri="{FF2B5EF4-FFF2-40B4-BE49-F238E27FC236}">
                <a16:creationId xmlns:a16="http://schemas.microsoft.com/office/drawing/2014/main" id="{D6335586-4D1B-1C56-D753-99855A780333}"/>
              </a:ext>
            </a:extLst>
          </p:cNvPr>
          <p:cNvSpPr>
            <a:spLocks noGrp="1"/>
          </p:cNvSpPr>
          <p:nvPr>
            <p:ph type="ftr" sz="quarter" idx="11"/>
          </p:nvPr>
        </p:nvSpPr>
        <p:spPr/>
        <p:txBody>
          <a:bodyPr/>
          <a:lstStyle/>
          <a:p>
            <a:r>
              <a:rPr lang="en-US"/>
              <a:t>VHS Career Training Pvt.Ltd</a:t>
            </a:r>
            <a:endParaRPr lang="en-IN"/>
          </a:p>
        </p:txBody>
      </p:sp>
      <p:sp>
        <p:nvSpPr>
          <p:cNvPr id="4" name="Slide Number Placeholder 3">
            <a:extLst>
              <a:ext uri="{FF2B5EF4-FFF2-40B4-BE49-F238E27FC236}">
                <a16:creationId xmlns:a16="http://schemas.microsoft.com/office/drawing/2014/main" id="{29A8721A-B1A1-01FA-A14E-6CD6CEA7CAB9}"/>
              </a:ext>
            </a:extLst>
          </p:cNvPr>
          <p:cNvSpPr>
            <a:spLocks noGrp="1"/>
          </p:cNvSpPr>
          <p:nvPr>
            <p:ph type="sldNum" sz="quarter" idx="12"/>
          </p:nvPr>
        </p:nvSpPr>
        <p:spPr/>
        <p:txBody>
          <a:bodyPr/>
          <a:lstStyle/>
          <a:p>
            <a:fld id="{96B25217-7B33-4CF6-9B9E-82FF272E23C8}" type="slidenum">
              <a:rPr lang="en-IN" smtClean="0"/>
              <a:t>2</a:t>
            </a:fld>
            <a:endParaRPr lang="en-IN"/>
          </a:p>
        </p:txBody>
      </p:sp>
    </p:spTree>
    <p:extLst>
      <p:ext uri="{BB962C8B-B14F-4D97-AF65-F5344CB8AC3E}">
        <p14:creationId xmlns:p14="http://schemas.microsoft.com/office/powerpoint/2010/main" val="2761770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Version Control System - Different Models and Software">
            <a:extLst>
              <a:ext uri="{FF2B5EF4-FFF2-40B4-BE49-F238E27FC236}">
                <a16:creationId xmlns:a16="http://schemas.microsoft.com/office/drawing/2014/main" id="{0793E64F-4D81-B61F-6173-B572053557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3288"/>
            <a:ext cx="12192000" cy="50514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61AFA9C-298A-315E-0DDC-A104B3B6EA14}"/>
              </a:ext>
            </a:extLst>
          </p:cNvPr>
          <p:cNvSpPr>
            <a:spLocks noGrp="1"/>
          </p:cNvSpPr>
          <p:nvPr>
            <p:ph type="sldNum" sz="quarter" idx="12"/>
          </p:nvPr>
        </p:nvSpPr>
        <p:spPr/>
        <p:txBody>
          <a:bodyPr/>
          <a:lstStyle/>
          <a:p>
            <a:fld id="{96B25217-7B33-4CF6-9B9E-82FF272E23C8}" type="slidenum">
              <a:rPr lang="en-IN" smtClean="0"/>
              <a:t>3</a:t>
            </a:fld>
            <a:endParaRPr lang="en-IN"/>
          </a:p>
        </p:txBody>
      </p:sp>
    </p:spTree>
    <p:extLst>
      <p:ext uri="{BB962C8B-B14F-4D97-AF65-F5344CB8AC3E}">
        <p14:creationId xmlns:p14="http://schemas.microsoft.com/office/powerpoint/2010/main" val="2869604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e Basics of Software Version Control | Smartsheet">
            <a:extLst>
              <a:ext uri="{FF2B5EF4-FFF2-40B4-BE49-F238E27FC236}">
                <a16:creationId xmlns:a16="http://schemas.microsoft.com/office/drawing/2014/main" id="{2B6BE8D2-3912-2557-DED6-6941F11EF3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8090" y="105650"/>
            <a:ext cx="7620000" cy="61055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048A63E3-D8AD-B8F5-629E-93BB766397CE}"/>
              </a:ext>
            </a:extLst>
          </p:cNvPr>
          <p:cNvSpPr>
            <a:spLocks noGrp="1"/>
          </p:cNvSpPr>
          <p:nvPr>
            <p:ph type="sldNum" sz="quarter" idx="12"/>
          </p:nvPr>
        </p:nvSpPr>
        <p:spPr/>
        <p:txBody>
          <a:bodyPr/>
          <a:lstStyle/>
          <a:p>
            <a:fld id="{96B25217-7B33-4CF6-9B9E-82FF272E23C8}" type="slidenum">
              <a:rPr lang="en-IN" smtClean="0"/>
              <a:t>4</a:t>
            </a:fld>
            <a:endParaRPr lang="en-IN"/>
          </a:p>
        </p:txBody>
      </p:sp>
    </p:spTree>
    <p:extLst>
      <p:ext uri="{BB962C8B-B14F-4D97-AF65-F5344CB8AC3E}">
        <p14:creationId xmlns:p14="http://schemas.microsoft.com/office/powerpoint/2010/main" val="949544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Version Control Systems - GeeksforGeeks">
            <a:extLst>
              <a:ext uri="{FF2B5EF4-FFF2-40B4-BE49-F238E27FC236}">
                <a16:creationId xmlns:a16="http://schemas.microsoft.com/office/drawing/2014/main" id="{E7F13B71-1EF9-6A77-00AA-440791BBAC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563" y="1166813"/>
            <a:ext cx="7000875" cy="45243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D8B077D-441A-6FD7-EDAD-5A7B2CB54294}"/>
              </a:ext>
            </a:extLst>
          </p:cNvPr>
          <p:cNvSpPr>
            <a:spLocks noGrp="1"/>
          </p:cNvSpPr>
          <p:nvPr>
            <p:ph type="sldNum" sz="quarter" idx="12"/>
          </p:nvPr>
        </p:nvSpPr>
        <p:spPr/>
        <p:txBody>
          <a:bodyPr/>
          <a:lstStyle/>
          <a:p>
            <a:fld id="{96B25217-7B33-4CF6-9B9E-82FF272E23C8}" type="slidenum">
              <a:rPr lang="en-IN" smtClean="0"/>
              <a:t>5</a:t>
            </a:fld>
            <a:endParaRPr lang="en-IN"/>
          </a:p>
        </p:txBody>
      </p:sp>
    </p:spTree>
    <p:extLst>
      <p:ext uri="{BB962C8B-B14F-4D97-AF65-F5344CB8AC3E}">
        <p14:creationId xmlns:p14="http://schemas.microsoft.com/office/powerpoint/2010/main" val="3107504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ow to Write A Security Pattern - Source Code Management">
            <a:extLst>
              <a:ext uri="{FF2B5EF4-FFF2-40B4-BE49-F238E27FC236}">
                <a16:creationId xmlns:a16="http://schemas.microsoft.com/office/drawing/2014/main" id="{27061094-2E68-B729-35EB-21039E42D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551" y="1077394"/>
            <a:ext cx="4895823" cy="210434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it Version Control System - javatpoint">
            <a:extLst>
              <a:ext uri="{FF2B5EF4-FFF2-40B4-BE49-F238E27FC236}">
                <a16:creationId xmlns:a16="http://schemas.microsoft.com/office/drawing/2014/main" id="{21805C3B-B0A9-435D-6E6D-D97127259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4775" y="1226004"/>
            <a:ext cx="3714750" cy="404579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17A49CA-FB15-B112-1C00-27DA2C0D269A}"/>
              </a:ext>
            </a:extLst>
          </p:cNvPr>
          <p:cNvSpPr>
            <a:spLocks noGrp="1"/>
          </p:cNvSpPr>
          <p:nvPr>
            <p:ph type="sldNum" sz="quarter" idx="12"/>
          </p:nvPr>
        </p:nvSpPr>
        <p:spPr/>
        <p:txBody>
          <a:bodyPr/>
          <a:lstStyle/>
          <a:p>
            <a:fld id="{96B25217-7B33-4CF6-9B9E-82FF272E23C8}" type="slidenum">
              <a:rPr lang="en-IN" smtClean="0"/>
              <a:t>6</a:t>
            </a:fld>
            <a:endParaRPr lang="en-IN"/>
          </a:p>
        </p:txBody>
      </p:sp>
    </p:spTree>
    <p:extLst>
      <p:ext uri="{BB962C8B-B14F-4D97-AF65-F5344CB8AC3E}">
        <p14:creationId xmlns:p14="http://schemas.microsoft.com/office/powerpoint/2010/main" val="2883405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ntroduction to Version Control Systems - Digital Varys">
            <a:extLst>
              <a:ext uri="{FF2B5EF4-FFF2-40B4-BE49-F238E27FC236}">
                <a16:creationId xmlns:a16="http://schemas.microsoft.com/office/drawing/2014/main" id="{123EE61C-9917-5FD0-3374-1A5753534E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3" y="385763"/>
            <a:ext cx="9401175" cy="60864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84035F6-DCE8-C952-FB26-475AE7F29AE1}"/>
              </a:ext>
            </a:extLst>
          </p:cNvPr>
          <p:cNvSpPr>
            <a:spLocks noGrp="1"/>
          </p:cNvSpPr>
          <p:nvPr>
            <p:ph type="sldNum" sz="quarter" idx="12"/>
          </p:nvPr>
        </p:nvSpPr>
        <p:spPr/>
        <p:txBody>
          <a:bodyPr/>
          <a:lstStyle/>
          <a:p>
            <a:fld id="{96B25217-7B33-4CF6-9B9E-82FF272E23C8}" type="slidenum">
              <a:rPr lang="en-IN" smtClean="0"/>
              <a:t>7</a:t>
            </a:fld>
            <a:endParaRPr lang="en-IN"/>
          </a:p>
        </p:txBody>
      </p:sp>
    </p:spTree>
    <p:extLst>
      <p:ext uri="{BB962C8B-B14F-4D97-AF65-F5344CB8AC3E}">
        <p14:creationId xmlns:p14="http://schemas.microsoft.com/office/powerpoint/2010/main" val="4250855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Everything You Need to Know About Version Control">
            <a:extLst>
              <a:ext uri="{FF2B5EF4-FFF2-40B4-BE49-F238E27FC236}">
                <a16:creationId xmlns:a16="http://schemas.microsoft.com/office/drawing/2014/main" id="{C2340D12-5BE1-D8E1-2ADF-C7AC05B20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625694E-85D6-F932-5CBA-3D4036E44AB4}"/>
              </a:ext>
            </a:extLst>
          </p:cNvPr>
          <p:cNvSpPr/>
          <p:nvPr/>
        </p:nvSpPr>
        <p:spPr>
          <a:xfrm>
            <a:off x="7427167" y="279918"/>
            <a:ext cx="1800809" cy="419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D00A7FB9-04EF-E899-44D8-FA61560725AF}"/>
              </a:ext>
            </a:extLst>
          </p:cNvPr>
          <p:cNvSpPr>
            <a:spLocks noGrp="1"/>
          </p:cNvSpPr>
          <p:nvPr>
            <p:ph type="sldNum" sz="quarter" idx="12"/>
          </p:nvPr>
        </p:nvSpPr>
        <p:spPr/>
        <p:txBody>
          <a:bodyPr/>
          <a:lstStyle/>
          <a:p>
            <a:fld id="{96B25217-7B33-4CF6-9B9E-82FF272E23C8}" type="slidenum">
              <a:rPr lang="en-IN" smtClean="0"/>
              <a:t>8</a:t>
            </a:fld>
            <a:endParaRPr lang="en-IN"/>
          </a:p>
        </p:txBody>
      </p:sp>
    </p:spTree>
    <p:extLst>
      <p:ext uri="{BB962C8B-B14F-4D97-AF65-F5344CB8AC3E}">
        <p14:creationId xmlns:p14="http://schemas.microsoft.com/office/powerpoint/2010/main" val="3711438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F778059-72B6-943B-AF85-D9B1E1FE8B85}"/>
              </a:ext>
            </a:extLst>
          </p:cNvPr>
          <p:cNvSpPr>
            <a:spLocks noGrp="1"/>
          </p:cNvSpPr>
          <p:nvPr>
            <p:ph type="sldNum" sz="quarter" idx="12"/>
          </p:nvPr>
        </p:nvSpPr>
        <p:spPr/>
        <p:txBody>
          <a:bodyPr/>
          <a:lstStyle/>
          <a:p>
            <a:fld id="{96B25217-7B33-4CF6-9B9E-82FF272E23C8}" type="slidenum">
              <a:rPr lang="en-IN" smtClean="0"/>
              <a:t>9</a:t>
            </a:fld>
            <a:endParaRPr lang="en-IN"/>
          </a:p>
        </p:txBody>
      </p:sp>
      <p:pic>
        <p:nvPicPr>
          <p:cNvPr id="5" name="Picture 4">
            <a:extLst>
              <a:ext uri="{FF2B5EF4-FFF2-40B4-BE49-F238E27FC236}">
                <a16:creationId xmlns:a16="http://schemas.microsoft.com/office/drawing/2014/main" id="{19143231-CBA6-914C-020A-A0C8A10A7AEF}"/>
              </a:ext>
            </a:extLst>
          </p:cNvPr>
          <p:cNvPicPr>
            <a:picLocks noChangeAspect="1"/>
          </p:cNvPicPr>
          <p:nvPr/>
        </p:nvPicPr>
        <p:blipFill>
          <a:blip r:embed="rId2"/>
          <a:stretch>
            <a:fillRect/>
          </a:stretch>
        </p:blipFill>
        <p:spPr>
          <a:xfrm>
            <a:off x="0" y="1460653"/>
            <a:ext cx="12192000" cy="3936694"/>
          </a:xfrm>
          <a:prstGeom prst="rect">
            <a:avLst/>
          </a:prstGeom>
        </p:spPr>
      </p:pic>
    </p:spTree>
    <p:extLst>
      <p:ext uri="{BB962C8B-B14F-4D97-AF65-F5344CB8AC3E}">
        <p14:creationId xmlns:p14="http://schemas.microsoft.com/office/powerpoint/2010/main" val="767241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t merge Strategies &amp; Options that you don't need to know | by David  Mosyan | Medium">
            <a:extLst>
              <a:ext uri="{FF2B5EF4-FFF2-40B4-BE49-F238E27FC236}">
                <a16:creationId xmlns:a16="http://schemas.microsoft.com/office/drawing/2014/main" id="{266A327B-BFD6-7996-AB87-759969A738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563" y="0"/>
            <a:ext cx="82692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45BD84E-FA56-E78F-8AB7-7B44D67C6728}"/>
              </a:ext>
            </a:extLst>
          </p:cNvPr>
          <p:cNvSpPr>
            <a:spLocks noGrp="1"/>
          </p:cNvSpPr>
          <p:nvPr>
            <p:ph type="ftr" sz="quarter" idx="11"/>
          </p:nvPr>
        </p:nvSpPr>
        <p:spPr/>
        <p:txBody>
          <a:bodyPr/>
          <a:lstStyle/>
          <a:p>
            <a:r>
              <a:rPr lang="en-US"/>
              <a:t>VHS Career Training Pvt.Ltd</a:t>
            </a:r>
            <a:endParaRPr lang="en-IN"/>
          </a:p>
        </p:txBody>
      </p:sp>
      <p:sp>
        <p:nvSpPr>
          <p:cNvPr id="3" name="Slide Number Placeholder 2">
            <a:extLst>
              <a:ext uri="{FF2B5EF4-FFF2-40B4-BE49-F238E27FC236}">
                <a16:creationId xmlns:a16="http://schemas.microsoft.com/office/drawing/2014/main" id="{311B057D-90D5-B358-2E70-8F12515F914F}"/>
              </a:ext>
            </a:extLst>
          </p:cNvPr>
          <p:cNvSpPr>
            <a:spLocks noGrp="1"/>
          </p:cNvSpPr>
          <p:nvPr>
            <p:ph type="sldNum" sz="quarter" idx="12"/>
          </p:nvPr>
        </p:nvSpPr>
        <p:spPr/>
        <p:txBody>
          <a:bodyPr/>
          <a:lstStyle/>
          <a:p>
            <a:fld id="{96B25217-7B33-4CF6-9B9E-82FF272E23C8}" type="slidenum">
              <a:rPr lang="en-IN" smtClean="0"/>
              <a:t>10</a:t>
            </a:fld>
            <a:endParaRPr lang="en-IN"/>
          </a:p>
        </p:txBody>
      </p:sp>
    </p:spTree>
    <p:extLst>
      <p:ext uri="{BB962C8B-B14F-4D97-AF65-F5344CB8AC3E}">
        <p14:creationId xmlns:p14="http://schemas.microsoft.com/office/powerpoint/2010/main" val="2607046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introduction-to-git-and-github-ebook/ebook/en/content/018-git-merge.md at  main · bobbyiliev/introduction-to-git-and-github-ebook · GitHub">
            <a:extLst>
              <a:ext uri="{FF2B5EF4-FFF2-40B4-BE49-F238E27FC236}">
                <a16:creationId xmlns:a16="http://schemas.microsoft.com/office/drawing/2014/main" id="{2CAF70A6-6CA3-DFB5-FFC4-78D1CE45F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252413"/>
            <a:ext cx="8915400" cy="635317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28918EA-C03C-FEE6-1193-F5C4F0488C49}"/>
              </a:ext>
            </a:extLst>
          </p:cNvPr>
          <p:cNvSpPr>
            <a:spLocks noGrp="1"/>
          </p:cNvSpPr>
          <p:nvPr>
            <p:ph type="sldNum" sz="quarter" idx="12"/>
          </p:nvPr>
        </p:nvSpPr>
        <p:spPr/>
        <p:txBody>
          <a:bodyPr/>
          <a:lstStyle/>
          <a:p>
            <a:fld id="{96B25217-7B33-4CF6-9B9E-82FF272E23C8}" type="slidenum">
              <a:rPr lang="en-IN" smtClean="0"/>
              <a:t>11</a:t>
            </a:fld>
            <a:endParaRPr lang="en-IN"/>
          </a:p>
        </p:txBody>
      </p:sp>
    </p:spTree>
    <p:extLst>
      <p:ext uri="{BB962C8B-B14F-4D97-AF65-F5344CB8AC3E}">
        <p14:creationId xmlns:p14="http://schemas.microsoft.com/office/powerpoint/2010/main" val="3506630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51498D-D81B-FAD9-353B-4D62E49E53AC}"/>
              </a:ext>
            </a:extLst>
          </p:cNvPr>
          <p:cNvSpPr>
            <a:spLocks noGrp="1"/>
          </p:cNvSpPr>
          <p:nvPr>
            <p:ph type="ftr" sz="quarter" idx="11"/>
          </p:nvPr>
        </p:nvSpPr>
        <p:spPr/>
        <p:txBody>
          <a:bodyPr/>
          <a:lstStyle/>
          <a:p>
            <a:r>
              <a:rPr lang="en-US"/>
              <a:t>VHS Career Training Pvt.Ltd</a:t>
            </a:r>
            <a:endParaRPr lang="en-IN"/>
          </a:p>
        </p:txBody>
      </p:sp>
      <p:sp>
        <p:nvSpPr>
          <p:cNvPr id="3" name="Slide Number Placeholder 2">
            <a:extLst>
              <a:ext uri="{FF2B5EF4-FFF2-40B4-BE49-F238E27FC236}">
                <a16:creationId xmlns:a16="http://schemas.microsoft.com/office/drawing/2014/main" id="{07416AE2-D439-A2C5-751F-F213C526D555}"/>
              </a:ext>
            </a:extLst>
          </p:cNvPr>
          <p:cNvSpPr>
            <a:spLocks noGrp="1"/>
          </p:cNvSpPr>
          <p:nvPr>
            <p:ph type="sldNum" sz="quarter" idx="12"/>
          </p:nvPr>
        </p:nvSpPr>
        <p:spPr/>
        <p:txBody>
          <a:bodyPr/>
          <a:lstStyle/>
          <a:p>
            <a:fld id="{96B25217-7B33-4CF6-9B9E-82FF272E23C8}" type="slidenum">
              <a:rPr lang="en-IN" smtClean="0"/>
              <a:t>12</a:t>
            </a:fld>
            <a:endParaRPr lang="en-IN"/>
          </a:p>
        </p:txBody>
      </p:sp>
      <p:pic>
        <p:nvPicPr>
          <p:cNvPr id="5" name="Picture 4">
            <a:extLst>
              <a:ext uri="{FF2B5EF4-FFF2-40B4-BE49-F238E27FC236}">
                <a16:creationId xmlns:a16="http://schemas.microsoft.com/office/drawing/2014/main" id="{17669ACF-23BA-479B-8709-344D88CE7A06}"/>
              </a:ext>
            </a:extLst>
          </p:cNvPr>
          <p:cNvPicPr>
            <a:picLocks noChangeAspect="1"/>
          </p:cNvPicPr>
          <p:nvPr/>
        </p:nvPicPr>
        <p:blipFill>
          <a:blip r:embed="rId2"/>
          <a:stretch>
            <a:fillRect/>
          </a:stretch>
        </p:blipFill>
        <p:spPr>
          <a:xfrm>
            <a:off x="825628" y="1166328"/>
            <a:ext cx="8909237" cy="3824908"/>
          </a:xfrm>
          <a:prstGeom prst="rect">
            <a:avLst/>
          </a:prstGeom>
        </p:spPr>
      </p:pic>
    </p:spTree>
    <p:extLst>
      <p:ext uri="{BB962C8B-B14F-4D97-AF65-F5344CB8AC3E}">
        <p14:creationId xmlns:p14="http://schemas.microsoft.com/office/powerpoint/2010/main" val="4289285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80F288-4764-8EB1-A604-450990AC9F55}"/>
              </a:ext>
            </a:extLst>
          </p:cNvPr>
          <p:cNvSpPr>
            <a:spLocks noGrp="1"/>
          </p:cNvSpPr>
          <p:nvPr>
            <p:ph type="ftr" sz="quarter" idx="11"/>
          </p:nvPr>
        </p:nvSpPr>
        <p:spPr/>
        <p:txBody>
          <a:bodyPr/>
          <a:lstStyle/>
          <a:p>
            <a:r>
              <a:rPr lang="en-US"/>
              <a:t>VHS Career Training Pvt.Ltd</a:t>
            </a:r>
            <a:endParaRPr lang="en-IN"/>
          </a:p>
        </p:txBody>
      </p:sp>
      <p:sp>
        <p:nvSpPr>
          <p:cNvPr id="3" name="Slide Number Placeholder 2">
            <a:extLst>
              <a:ext uri="{FF2B5EF4-FFF2-40B4-BE49-F238E27FC236}">
                <a16:creationId xmlns:a16="http://schemas.microsoft.com/office/drawing/2014/main" id="{C3ABB0DB-9CF2-803E-0FDF-05DCE096D3E2}"/>
              </a:ext>
            </a:extLst>
          </p:cNvPr>
          <p:cNvSpPr>
            <a:spLocks noGrp="1"/>
          </p:cNvSpPr>
          <p:nvPr>
            <p:ph type="sldNum" sz="quarter" idx="12"/>
          </p:nvPr>
        </p:nvSpPr>
        <p:spPr/>
        <p:txBody>
          <a:bodyPr/>
          <a:lstStyle/>
          <a:p>
            <a:fld id="{96B25217-7B33-4CF6-9B9E-82FF272E23C8}" type="slidenum">
              <a:rPr lang="en-IN" smtClean="0"/>
              <a:t>13</a:t>
            </a:fld>
            <a:endParaRPr lang="en-IN"/>
          </a:p>
        </p:txBody>
      </p:sp>
      <p:pic>
        <p:nvPicPr>
          <p:cNvPr id="5" name="Picture 4">
            <a:extLst>
              <a:ext uri="{FF2B5EF4-FFF2-40B4-BE49-F238E27FC236}">
                <a16:creationId xmlns:a16="http://schemas.microsoft.com/office/drawing/2014/main" id="{915622C5-5160-9106-529B-45B681D1A072}"/>
              </a:ext>
            </a:extLst>
          </p:cNvPr>
          <p:cNvPicPr>
            <a:picLocks noChangeAspect="1"/>
          </p:cNvPicPr>
          <p:nvPr/>
        </p:nvPicPr>
        <p:blipFill>
          <a:blip r:embed="rId2"/>
          <a:stretch>
            <a:fillRect/>
          </a:stretch>
        </p:blipFill>
        <p:spPr>
          <a:xfrm>
            <a:off x="2209463" y="1649576"/>
            <a:ext cx="7773074" cy="3558848"/>
          </a:xfrm>
          <a:prstGeom prst="rect">
            <a:avLst/>
          </a:prstGeom>
        </p:spPr>
      </p:pic>
    </p:spTree>
    <p:extLst>
      <p:ext uri="{BB962C8B-B14F-4D97-AF65-F5344CB8AC3E}">
        <p14:creationId xmlns:p14="http://schemas.microsoft.com/office/powerpoint/2010/main" val="2129631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E398D1A-4F68-D71C-CD62-4259DBEA1D56}"/>
              </a:ext>
            </a:extLst>
          </p:cNvPr>
          <p:cNvSpPr>
            <a:spLocks noGrp="1"/>
          </p:cNvSpPr>
          <p:nvPr>
            <p:ph type="sldNum" sz="quarter" idx="12"/>
          </p:nvPr>
        </p:nvSpPr>
        <p:spPr/>
        <p:txBody>
          <a:bodyPr/>
          <a:lstStyle/>
          <a:p>
            <a:fld id="{96B25217-7B33-4CF6-9B9E-82FF272E23C8}" type="slidenum">
              <a:rPr lang="en-IN" smtClean="0"/>
              <a:t>14</a:t>
            </a:fld>
            <a:endParaRPr lang="en-IN"/>
          </a:p>
        </p:txBody>
      </p:sp>
      <p:pic>
        <p:nvPicPr>
          <p:cNvPr id="5" name="Picture 4">
            <a:extLst>
              <a:ext uri="{FF2B5EF4-FFF2-40B4-BE49-F238E27FC236}">
                <a16:creationId xmlns:a16="http://schemas.microsoft.com/office/drawing/2014/main" id="{16FEF40C-AAAD-0FEE-1F42-DB76BF03F05C}"/>
              </a:ext>
            </a:extLst>
          </p:cNvPr>
          <p:cNvPicPr>
            <a:picLocks noChangeAspect="1"/>
          </p:cNvPicPr>
          <p:nvPr/>
        </p:nvPicPr>
        <p:blipFill>
          <a:blip r:embed="rId2"/>
          <a:stretch>
            <a:fillRect/>
          </a:stretch>
        </p:blipFill>
        <p:spPr>
          <a:xfrm>
            <a:off x="1152874" y="1931437"/>
            <a:ext cx="10165159" cy="3526971"/>
          </a:xfrm>
          <a:prstGeom prst="rect">
            <a:avLst/>
          </a:prstGeom>
        </p:spPr>
      </p:pic>
    </p:spTree>
    <p:extLst>
      <p:ext uri="{BB962C8B-B14F-4D97-AF65-F5344CB8AC3E}">
        <p14:creationId xmlns:p14="http://schemas.microsoft.com/office/powerpoint/2010/main" val="4255746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Git Rebase: A Comprehensive Guide with Examples – TecAdmin">
            <a:extLst>
              <a:ext uri="{FF2B5EF4-FFF2-40B4-BE49-F238E27FC236}">
                <a16:creationId xmlns:a16="http://schemas.microsoft.com/office/drawing/2014/main" id="{EDD2BB63-EDF5-5F58-AD9D-7D7B3EF49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004888"/>
            <a:ext cx="7620000" cy="48482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0883FDA-DC5E-17AA-86B1-6F6A3874D3E5}"/>
              </a:ext>
            </a:extLst>
          </p:cNvPr>
          <p:cNvSpPr>
            <a:spLocks noGrp="1"/>
          </p:cNvSpPr>
          <p:nvPr>
            <p:ph type="sldNum" sz="quarter" idx="12"/>
          </p:nvPr>
        </p:nvSpPr>
        <p:spPr/>
        <p:txBody>
          <a:bodyPr/>
          <a:lstStyle/>
          <a:p>
            <a:fld id="{96B25217-7B33-4CF6-9B9E-82FF272E23C8}" type="slidenum">
              <a:rPr lang="en-IN" smtClean="0"/>
              <a:t>15</a:t>
            </a:fld>
            <a:endParaRPr lang="en-IN"/>
          </a:p>
        </p:txBody>
      </p:sp>
    </p:spTree>
    <p:extLst>
      <p:ext uri="{BB962C8B-B14F-4D97-AF65-F5344CB8AC3E}">
        <p14:creationId xmlns:p14="http://schemas.microsoft.com/office/powerpoint/2010/main" val="3286266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984103-468A-3F36-E6C7-1D43C2203080}"/>
              </a:ext>
            </a:extLst>
          </p:cNvPr>
          <p:cNvSpPr>
            <a:spLocks noGrp="1"/>
          </p:cNvSpPr>
          <p:nvPr>
            <p:ph type="sldNum" sz="quarter" idx="12"/>
          </p:nvPr>
        </p:nvSpPr>
        <p:spPr/>
        <p:txBody>
          <a:bodyPr/>
          <a:lstStyle/>
          <a:p>
            <a:fld id="{96B25217-7B33-4CF6-9B9E-82FF272E23C8}" type="slidenum">
              <a:rPr lang="en-IN" smtClean="0"/>
              <a:t>16</a:t>
            </a:fld>
            <a:endParaRPr lang="en-IN"/>
          </a:p>
        </p:txBody>
      </p:sp>
      <p:pic>
        <p:nvPicPr>
          <p:cNvPr id="5" name="Picture 4">
            <a:extLst>
              <a:ext uri="{FF2B5EF4-FFF2-40B4-BE49-F238E27FC236}">
                <a16:creationId xmlns:a16="http://schemas.microsoft.com/office/drawing/2014/main" id="{1573BC22-A9F2-DAF5-EB40-15721AF8A6F5}"/>
              </a:ext>
            </a:extLst>
          </p:cNvPr>
          <p:cNvPicPr>
            <a:picLocks noChangeAspect="1"/>
          </p:cNvPicPr>
          <p:nvPr/>
        </p:nvPicPr>
        <p:blipFill>
          <a:blip r:embed="rId2"/>
          <a:stretch>
            <a:fillRect/>
          </a:stretch>
        </p:blipFill>
        <p:spPr>
          <a:xfrm>
            <a:off x="1782147" y="1427584"/>
            <a:ext cx="8817429" cy="2847309"/>
          </a:xfrm>
          <a:prstGeom prst="rect">
            <a:avLst/>
          </a:prstGeom>
        </p:spPr>
      </p:pic>
    </p:spTree>
    <p:extLst>
      <p:ext uri="{BB962C8B-B14F-4D97-AF65-F5344CB8AC3E}">
        <p14:creationId xmlns:p14="http://schemas.microsoft.com/office/powerpoint/2010/main" val="1658430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F28EF87-FDD3-8ECC-F68E-C0F66B52247A}"/>
              </a:ext>
            </a:extLst>
          </p:cNvPr>
          <p:cNvSpPr>
            <a:spLocks noGrp="1"/>
          </p:cNvSpPr>
          <p:nvPr>
            <p:ph type="sldNum" sz="quarter" idx="12"/>
          </p:nvPr>
        </p:nvSpPr>
        <p:spPr/>
        <p:txBody>
          <a:bodyPr/>
          <a:lstStyle/>
          <a:p>
            <a:fld id="{96B25217-7B33-4CF6-9B9E-82FF272E23C8}" type="slidenum">
              <a:rPr lang="en-IN" smtClean="0"/>
              <a:t>17</a:t>
            </a:fld>
            <a:endParaRPr lang="en-IN"/>
          </a:p>
        </p:txBody>
      </p:sp>
      <p:pic>
        <p:nvPicPr>
          <p:cNvPr id="5" name="Picture 4">
            <a:extLst>
              <a:ext uri="{FF2B5EF4-FFF2-40B4-BE49-F238E27FC236}">
                <a16:creationId xmlns:a16="http://schemas.microsoft.com/office/drawing/2014/main" id="{7AD14007-24C1-6F80-0773-85500288FAE7}"/>
              </a:ext>
            </a:extLst>
          </p:cNvPr>
          <p:cNvPicPr>
            <a:picLocks noChangeAspect="1"/>
          </p:cNvPicPr>
          <p:nvPr/>
        </p:nvPicPr>
        <p:blipFill>
          <a:blip r:embed="rId2"/>
          <a:stretch>
            <a:fillRect/>
          </a:stretch>
        </p:blipFill>
        <p:spPr>
          <a:xfrm>
            <a:off x="2026567" y="1981074"/>
            <a:ext cx="8138865" cy="2895851"/>
          </a:xfrm>
          <a:prstGeom prst="rect">
            <a:avLst/>
          </a:prstGeom>
        </p:spPr>
      </p:pic>
    </p:spTree>
    <p:extLst>
      <p:ext uri="{BB962C8B-B14F-4D97-AF65-F5344CB8AC3E}">
        <p14:creationId xmlns:p14="http://schemas.microsoft.com/office/powerpoint/2010/main" val="1463404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it Merge vs Git Rebase. TLDR | by Needone App | Medium">
            <a:extLst>
              <a:ext uri="{FF2B5EF4-FFF2-40B4-BE49-F238E27FC236}">
                <a16:creationId xmlns:a16="http://schemas.microsoft.com/office/drawing/2014/main" id="{E1D7ACE2-BB68-527D-9BEE-85DD301C1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093" y="1434387"/>
            <a:ext cx="4817025" cy="275722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CF3E2B5-8CB6-75A9-1B6D-665C566AD206}"/>
              </a:ext>
            </a:extLst>
          </p:cNvPr>
          <p:cNvSpPr>
            <a:spLocks noGrp="1"/>
          </p:cNvSpPr>
          <p:nvPr>
            <p:ph type="sldNum" sz="quarter" idx="12"/>
          </p:nvPr>
        </p:nvSpPr>
        <p:spPr/>
        <p:txBody>
          <a:bodyPr/>
          <a:lstStyle/>
          <a:p>
            <a:fld id="{96B25217-7B33-4CF6-9B9E-82FF272E23C8}" type="slidenum">
              <a:rPr lang="en-IN" smtClean="0"/>
              <a:t>18</a:t>
            </a:fld>
            <a:endParaRPr lang="en-IN"/>
          </a:p>
        </p:txBody>
      </p:sp>
    </p:spTree>
    <p:extLst>
      <p:ext uri="{BB962C8B-B14F-4D97-AF65-F5344CB8AC3E}">
        <p14:creationId xmlns:p14="http://schemas.microsoft.com/office/powerpoint/2010/main" val="1904547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E75C2-8F54-AC35-3AE0-91CCC49BC41B}"/>
              </a:ext>
            </a:extLst>
          </p:cNvPr>
          <p:cNvSpPr>
            <a:spLocks noGrp="1"/>
          </p:cNvSpPr>
          <p:nvPr>
            <p:ph type="title"/>
          </p:nvPr>
        </p:nvSpPr>
        <p:spPr/>
        <p:txBody>
          <a:bodyPr/>
          <a:lstStyle/>
          <a:p>
            <a:r>
              <a:rPr lang="en-IN" dirty="0"/>
              <a:t>Git Commands</a:t>
            </a:r>
          </a:p>
        </p:txBody>
      </p:sp>
      <p:sp>
        <p:nvSpPr>
          <p:cNvPr id="3" name="Content Placeholder 2">
            <a:extLst>
              <a:ext uri="{FF2B5EF4-FFF2-40B4-BE49-F238E27FC236}">
                <a16:creationId xmlns:a16="http://schemas.microsoft.com/office/drawing/2014/main" id="{209A3E6B-FF20-DE1E-4F73-6E3391E42D28}"/>
              </a:ext>
            </a:extLst>
          </p:cNvPr>
          <p:cNvSpPr>
            <a:spLocks noGrp="1"/>
          </p:cNvSpPr>
          <p:nvPr>
            <p:ph idx="1"/>
          </p:nvPr>
        </p:nvSpPr>
        <p:spPr/>
        <p:txBody>
          <a:bodyPr>
            <a:normAutofit/>
          </a:bodyPr>
          <a:lstStyle/>
          <a:p>
            <a:pPr algn="l" fontAlgn="base"/>
            <a:r>
              <a:rPr lang="en-US" sz="1800" b="0" i="0" dirty="0">
                <a:solidFill>
                  <a:srgbClr val="253858"/>
                </a:solidFill>
                <a:effectLst/>
                <a:latin typeface="Charlie Display"/>
              </a:rPr>
              <a:t>Git clone: </a:t>
            </a:r>
            <a:r>
              <a:rPr lang="en-US" sz="1800" b="0" i="0" dirty="0">
                <a:solidFill>
                  <a:srgbClr val="42526E"/>
                </a:solidFill>
                <a:effectLst/>
                <a:latin typeface="Charlie Display"/>
              </a:rPr>
              <a:t>Creates a copy of an existing Git repository. Cloning is the most common way for developers to obtain a working copy of a central repository.</a:t>
            </a:r>
          </a:p>
          <a:p>
            <a:pPr algn="l" fontAlgn="base"/>
            <a:r>
              <a:rPr lang="en-US" sz="1800" b="0" i="0" dirty="0">
                <a:solidFill>
                  <a:srgbClr val="253858"/>
                </a:solidFill>
                <a:effectLst/>
                <a:latin typeface="Charlie Display"/>
              </a:rPr>
              <a:t>Git commit: </a:t>
            </a:r>
            <a:r>
              <a:rPr lang="en-US" sz="1800" b="0" i="0" dirty="0">
                <a:solidFill>
                  <a:srgbClr val="42526E"/>
                </a:solidFill>
                <a:effectLst/>
                <a:latin typeface="Charlie Display"/>
              </a:rPr>
              <a:t>Takes the staged snapshot and commits it to the project history. Combined with git add, this defines the basic workflow for all Git users.</a:t>
            </a:r>
          </a:p>
          <a:p>
            <a:pPr algn="l" fontAlgn="base"/>
            <a:r>
              <a:rPr lang="en-US" sz="1800" b="0" i="0" dirty="0">
                <a:solidFill>
                  <a:srgbClr val="253858"/>
                </a:solidFill>
                <a:effectLst/>
                <a:latin typeface="Charlie Display"/>
              </a:rPr>
              <a:t>git config: </a:t>
            </a:r>
            <a:r>
              <a:rPr lang="en-US" sz="1800" b="0" i="0" dirty="0">
                <a:solidFill>
                  <a:srgbClr val="42526E"/>
                </a:solidFill>
                <a:effectLst/>
                <a:latin typeface="Charlie Display"/>
              </a:rPr>
              <a:t>A convenient way to set configuration options for your Git installation. You’ll typically only need to use this immediately after installing Git on a new development machine.</a:t>
            </a:r>
          </a:p>
          <a:p>
            <a:pPr algn="l" fontAlgn="base"/>
            <a:r>
              <a:rPr lang="en-US" sz="1800" b="0" i="0" dirty="0">
                <a:solidFill>
                  <a:srgbClr val="253858"/>
                </a:solidFill>
                <a:effectLst/>
                <a:latin typeface="Charlie Display"/>
              </a:rPr>
              <a:t>git fetch: </a:t>
            </a:r>
            <a:r>
              <a:rPr lang="en-US" sz="1800" b="0" i="0" dirty="0">
                <a:solidFill>
                  <a:srgbClr val="42526E"/>
                </a:solidFill>
                <a:effectLst/>
                <a:latin typeface="Charlie Display"/>
              </a:rPr>
              <a:t>Fetching downloads a branch from another repository, along with all of its associated commits and files. But, it doesn't try to integrate anything into your local repository. This gives you a chance to inspect changes before merging them with your project.</a:t>
            </a:r>
          </a:p>
          <a:p>
            <a:pPr algn="l" fontAlgn="base"/>
            <a:r>
              <a:rPr lang="en-US" sz="1800" b="0" i="0" dirty="0">
                <a:solidFill>
                  <a:srgbClr val="253858"/>
                </a:solidFill>
                <a:effectLst/>
                <a:latin typeface="Charlie Display"/>
              </a:rPr>
              <a:t>git </a:t>
            </a:r>
            <a:r>
              <a:rPr lang="en-US" sz="1800" b="0" i="0" dirty="0" err="1">
                <a:solidFill>
                  <a:srgbClr val="253858"/>
                </a:solidFill>
                <a:effectLst/>
                <a:latin typeface="Charlie Display"/>
              </a:rPr>
              <a:t>init</a:t>
            </a:r>
            <a:r>
              <a:rPr lang="en-US" sz="1800" b="0" i="0" dirty="0">
                <a:solidFill>
                  <a:srgbClr val="253858"/>
                </a:solidFill>
                <a:effectLst/>
                <a:latin typeface="Charlie Display"/>
              </a:rPr>
              <a:t>: </a:t>
            </a:r>
            <a:r>
              <a:rPr lang="en-US" sz="1800" b="0" i="0" dirty="0">
                <a:solidFill>
                  <a:srgbClr val="42526E"/>
                </a:solidFill>
                <a:effectLst/>
                <a:latin typeface="Charlie Display"/>
              </a:rPr>
              <a:t>Initializes a new Git repository. If you want to place a project under revision control, this is the first command you need to learn.</a:t>
            </a:r>
          </a:p>
          <a:p>
            <a:pPr algn="l" fontAlgn="base"/>
            <a:endParaRPr lang="en-US" sz="1400" b="0" i="0" dirty="0">
              <a:solidFill>
                <a:srgbClr val="42526E"/>
              </a:solidFill>
              <a:effectLst/>
              <a:latin typeface="Charlie Display"/>
            </a:endParaRPr>
          </a:p>
          <a:p>
            <a:endParaRPr lang="en-IN" sz="1400" dirty="0"/>
          </a:p>
        </p:txBody>
      </p:sp>
      <p:sp>
        <p:nvSpPr>
          <p:cNvPr id="5" name="Slide Number Placeholder 4">
            <a:extLst>
              <a:ext uri="{FF2B5EF4-FFF2-40B4-BE49-F238E27FC236}">
                <a16:creationId xmlns:a16="http://schemas.microsoft.com/office/drawing/2014/main" id="{FF9505F9-E617-BF9A-1085-8CBEBD807926}"/>
              </a:ext>
            </a:extLst>
          </p:cNvPr>
          <p:cNvSpPr>
            <a:spLocks noGrp="1"/>
          </p:cNvSpPr>
          <p:nvPr>
            <p:ph type="sldNum" sz="quarter" idx="12"/>
          </p:nvPr>
        </p:nvSpPr>
        <p:spPr/>
        <p:txBody>
          <a:bodyPr/>
          <a:lstStyle/>
          <a:p>
            <a:fld id="{96B25217-7B33-4CF6-9B9E-82FF272E23C8}" type="slidenum">
              <a:rPr lang="en-IN" smtClean="0"/>
              <a:t>19</a:t>
            </a:fld>
            <a:endParaRPr lang="en-IN"/>
          </a:p>
        </p:txBody>
      </p:sp>
    </p:spTree>
    <p:extLst>
      <p:ext uri="{BB962C8B-B14F-4D97-AF65-F5344CB8AC3E}">
        <p14:creationId xmlns:p14="http://schemas.microsoft.com/office/powerpoint/2010/main" val="3509143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065D5-EC33-539C-19D7-C6462D7D8C08}"/>
              </a:ext>
            </a:extLst>
          </p:cNvPr>
          <p:cNvSpPr>
            <a:spLocks noGrp="1"/>
          </p:cNvSpPr>
          <p:nvPr>
            <p:ph type="title"/>
          </p:nvPr>
        </p:nvSpPr>
        <p:spPr/>
        <p:txBody>
          <a:bodyPr/>
          <a:lstStyle/>
          <a:p>
            <a:r>
              <a:rPr lang="en-IN" dirty="0"/>
              <a:t>Git Commands</a:t>
            </a:r>
          </a:p>
        </p:txBody>
      </p:sp>
      <p:sp>
        <p:nvSpPr>
          <p:cNvPr id="3" name="Content Placeholder 2">
            <a:extLst>
              <a:ext uri="{FF2B5EF4-FFF2-40B4-BE49-F238E27FC236}">
                <a16:creationId xmlns:a16="http://schemas.microsoft.com/office/drawing/2014/main" id="{928ECB29-5FAF-AEF4-737C-93FD0E6483F6}"/>
              </a:ext>
            </a:extLst>
          </p:cNvPr>
          <p:cNvSpPr>
            <a:spLocks noGrp="1"/>
          </p:cNvSpPr>
          <p:nvPr>
            <p:ph idx="1"/>
          </p:nvPr>
        </p:nvSpPr>
        <p:spPr>
          <a:xfrm>
            <a:off x="938660" y="1817743"/>
            <a:ext cx="10058400" cy="4023360"/>
          </a:xfrm>
        </p:spPr>
        <p:txBody>
          <a:bodyPr>
            <a:noAutofit/>
          </a:bodyPr>
          <a:lstStyle/>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log: </a:t>
            </a:r>
            <a:r>
              <a:rPr lang="en-US" sz="1400" b="0" i="0" dirty="0">
                <a:solidFill>
                  <a:srgbClr val="42526E"/>
                </a:solidFill>
                <a:effectLst/>
                <a:latin typeface="Times New Roman" panose="02020603050405020304" pitchFamily="18" charset="0"/>
                <a:cs typeface="Times New Roman" panose="02020603050405020304" pitchFamily="18" charset="0"/>
              </a:rPr>
              <a:t>Lets you explore the previous revisions of a project. It provides several formatting options for displaying committed snapshots.</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merge: </a:t>
            </a:r>
            <a:r>
              <a:rPr lang="en-US" sz="1400" b="0" i="0" dirty="0">
                <a:solidFill>
                  <a:srgbClr val="42526E"/>
                </a:solidFill>
                <a:effectLst/>
                <a:latin typeface="Times New Roman" panose="02020603050405020304" pitchFamily="18" charset="0"/>
                <a:cs typeface="Times New Roman" panose="02020603050405020304" pitchFamily="18" charset="0"/>
              </a:rPr>
              <a:t>A powerful way to integrate changes from divergent branches. After forking the project history with git branch, git merge lets you put it back together again.</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pull : </a:t>
            </a:r>
            <a:r>
              <a:rPr lang="en-US" sz="1400" b="0" i="0" dirty="0">
                <a:solidFill>
                  <a:srgbClr val="42526E"/>
                </a:solidFill>
                <a:effectLst/>
                <a:latin typeface="Times New Roman" panose="02020603050405020304" pitchFamily="18" charset="0"/>
                <a:cs typeface="Times New Roman" panose="02020603050405020304" pitchFamily="18" charset="0"/>
              </a:rPr>
              <a:t>Pulling is the automated version of git fetch. It downloads a branch from a remote repository, then immediately merges it into the current branch. This is the Git equivalent of </a:t>
            </a:r>
            <a:r>
              <a:rPr lang="en-US" sz="1400" b="0" i="0" dirty="0" err="1">
                <a:solidFill>
                  <a:srgbClr val="42526E"/>
                </a:solidFill>
                <a:effectLst/>
                <a:latin typeface="Times New Roman" panose="02020603050405020304" pitchFamily="18" charset="0"/>
                <a:cs typeface="Times New Roman" panose="02020603050405020304" pitchFamily="18" charset="0"/>
              </a:rPr>
              <a:t>svn</a:t>
            </a:r>
            <a:r>
              <a:rPr lang="en-US" sz="1400" b="0" i="0" dirty="0">
                <a:solidFill>
                  <a:srgbClr val="42526E"/>
                </a:solidFill>
                <a:effectLst/>
                <a:latin typeface="Times New Roman" panose="02020603050405020304" pitchFamily="18" charset="0"/>
                <a:cs typeface="Times New Roman" panose="02020603050405020304" pitchFamily="18" charset="0"/>
              </a:rPr>
              <a:t> update.</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push : </a:t>
            </a:r>
            <a:r>
              <a:rPr lang="en-US" sz="1400" b="0" i="0" dirty="0">
                <a:solidFill>
                  <a:srgbClr val="42526E"/>
                </a:solidFill>
                <a:effectLst/>
                <a:latin typeface="Times New Roman" panose="02020603050405020304" pitchFamily="18" charset="0"/>
                <a:cs typeface="Times New Roman" panose="02020603050405020304" pitchFamily="18" charset="0"/>
              </a:rPr>
              <a:t>Pushing is the opposite of fetching (with a few caveats). It lets you move a local branch to another repository, which serves as a convenient way to publish contributions. This is like </a:t>
            </a:r>
            <a:r>
              <a:rPr lang="en-US" sz="1400" b="0" i="0" dirty="0" err="1">
                <a:solidFill>
                  <a:srgbClr val="42526E"/>
                </a:solidFill>
                <a:effectLst/>
                <a:latin typeface="Times New Roman" panose="02020603050405020304" pitchFamily="18" charset="0"/>
                <a:cs typeface="Times New Roman" panose="02020603050405020304" pitchFamily="18" charset="0"/>
              </a:rPr>
              <a:t>svn</a:t>
            </a:r>
            <a:r>
              <a:rPr lang="en-US" sz="1400" b="0" i="0" dirty="0">
                <a:solidFill>
                  <a:srgbClr val="42526E"/>
                </a:solidFill>
                <a:effectLst/>
                <a:latin typeface="Times New Roman" panose="02020603050405020304" pitchFamily="18" charset="0"/>
                <a:cs typeface="Times New Roman" panose="02020603050405020304" pitchFamily="18" charset="0"/>
              </a:rPr>
              <a:t> commit, but it sends a series of commits instead of a single changeset.</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rebase: </a:t>
            </a:r>
            <a:r>
              <a:rPr lang="en-US" sz="1400" b="0" i="0" dirty="0">
                <a:solidFill>
                  <a:srgbClr val="42526E"/>
                </a:solidFill>
                <a:effectLst/>
                <a:latin typeface="Times New Roman" panose="02020603050405020304" pitchFamily="18" charset="0"/>
                <a:cs typeface="Times New Roman" panose="02020603050405020304" pitchFamily="18" charset="0"/>
              </a:rPr>
              <a:t>Rebasing lets you move branches around, which helps you avoid unnecessary merge commits. The resulting linear history is often much easier to understand and explore.</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reset :</a:t>
            </a:r>
            <a:r>
              <a:rPr lang="en-US" sz="1400" b="0" i="0" dirty="0">
                <a:solidFill>
                  <a:srgbClr val="42526E"/>
                </a:solidFill>
                <a:effectLst/>
                <a:latin typeface="Times New Roman" panose="02020603050405020304" pitchFamily="18" charset="0"/>
                <a:cs typeface="Times New Roman" panose="02020603050405020304" pitchFamily="18" charset="0"/>
              </a:rPr>
              <a:t>Undoes changes to files in the working directory. Resetting lets you clean up or completely remove changes that have not been pushed to a public repository.</a:t>
            </a:r>
          </a:p>
          <a:p>
            <a:pPr algn="l" fontAlgn="base"/>
            <a:r>
              <a:rPr lang="en-US" sz="1400" b="0" i="0" dirty="0">
                <a:solidFill>
                  <a:srgbClr val="253858"/>
                </a:solidFill>
                <a:effectLst/>
                <a:latin typeface="Times New Roman" panose="02020603050405020304" pitchFamily="18" charset="0"/>
                <a:cs typeface="Times New Roman" panose="02020603050405020304" pitchFamily="18" charset="0"/>
              </a:rPr>
              <a:t>git revert :</a:t>
            </a:r>
            <a:r>
              <a:rPr lang="en-US" sz="1400" b="0" i="0" dirty="0">
                <a:solidFill>
                  <a:srgbClr val="42526E"/>
                </a:solidFill>
                <a:effectLst/>
                <a:latin typeface="Times New Roman" panose="02020603050405020304" pitchFamily="18" charset="0"/>
                <a:cs typeface="Times New Roman" panose="02020603050405020304" pitchFamily="18" charset="0"/>
              </a:rPr>
              <a:t>Undoes a committed snapshot. When you discover a faulty commit, reverting is a safe and easy way to completely remove it from the code base.</a:t>
            </a:r>
          </a:p>
          <a:p>
            <a:pPr algn="l" fontAlgn="base"/>
            <a:endParaRPr lang="en-US" sz="1400" b="0" i="0" dirty="0">
              <a:solidFill>
                <a:srgbClr val="42526E"/>
              </a:solidFill>
              <a:effectLst/>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9C720F0-0518-9059-534C-1858C2F6BA0D}"/>
              </a:ext>
            </a:extLst>
          </p:cNvPr>
          <p:cNvSpPr>
            <a:spLocks noGrp="1"/>
          </p:cNvSpPr>
          <p:nvPr>
            <p:ph type="sldNum" sz="quarter" idx="12"/>
          </p:nvPr>
        </p:nvSpPr>
        <p:spPr/>
        <p:txBody>
          <a:bodyPr/>
          <a:lstStyle/>
          <a:p>
            <a:fld id="{96B25217-7B33-4CF6-9B9E-82FF272E23C8}" type="slidenum">
              <a:rPr lang="en-IN" smtClean="0"/>
              <a:t>20</a:t>
            </a:fld>
            <a:endParaRPr lang="en-IN"/>
          </a:p>
        </p:txBody>
      </p:sp>
    </p:spTree>
    <p:extLst>
      <p:ext uri="{BB962C8B-B14F-4D97-AF65-F5344CB8AC3E}">
        <p14:creationId xmlns:p14="http://schemas.microsoft.com/office/powerpoint/2010/main" val="2626904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2253E-B216-35EC-082A-0513FE7799BB}"/>
              </a:ext>
            </a:extLst>
          </p:cNvPr>
          <p:cNvSpPr>
            <a:spLocks noGrp="1"/>
          </p:cNvSpPr>
          <p:nvPr>
            <p:ph type="title"/>
          </p:nvPr>
        </p:nvSpPr>
        <p:spPr/>
        <p:txBody>
          <a:bodyPr/>
          <a:lstStyle/>
          <a:p>
            <a:r>
              <a:rPr lang="en-IN" dirty="0"/>
              <a:t>Git Commands</a:t>
            </a:r>
          </a:p>
        </p:txBody>
      </p:sp>
      <p:sp>
        <p:nvSpPr>
          <p:cNvPr id="3" name="Content Placeholder 2">
            <a:extLst>
              <a:ext uri="{FF2B5EF4-FFF2-40B4-BE49-F238E27FC236}">
                <a16:creationId xmlns:a16="http://schemas.microsoft.com/office/drawing/2014/main" id="{E0B995EB-9FD9-BA83-E0BC-485E511336A4}"/>
              </a:ext>
            </a:extLst>
          </p:cNvPr>
          <p:cNvSpPr>
            <a:spLocks noGrp="1"/>
          </p:cNvSpPr>
          <p:nvPr>
            <p:ph idx="1"/>
          </p:nvPr>
        </p:nvSpPr>
        <p:spPr/>
        <p:txBody>
          <a:bodyPr>
            <a:normAutofit/>
          </a:bodyPr>
          <a:lstStyle/>
          <a:p>
            <a:pPr algn="l" fontAlgn="base"/>
            <a:r>
              <a:rPr lang="en-US" b="0" i="0" dirty="0">
                <a:solidFill>
                  <a:srgbClr val="253858"/>
                </a:solidFill>
                <a:effectLst/>
                <a:latin typeface="Times New Roman" panose="02020603050405020304" pitchFamily="18" charset="0"/>
                <a:cs typeface="Times New Roman" panose="02020603050405020304" pitchFamily="18" charset="0"/>
              </a:rPr>
              <a:t>git status: </a:t>
            </a:r>
            <a:r>
              <a:rPr lang="en-US" b="0" i="0" dirty="0">
                <a:solidFill>
                  <a:srgbClr val="42526E"/>
                </a:solidFill>
                <a:effectLst/>
                <a:latin typeface="Times New Roman" panose="02020603050405020304" pitchFamily="18" charset="0"/>
                <a:cs typeface="Times New Roman" panose="02020603050405020304" pitchFamily="18" charset="0"/>
              </a:rPr>
              <a:t>Displays the state of the working directory and the staged snapshot. You’ll want to run this in conjunction with git add and git commit to see exactly what’s being included in the next snapshot.</a:t>
            </a:r>
          </a:p>
          <a:p>
            <a:pPr algn="l" fontAlgn="base"/>
            <a:r>
              <a:rPr lang="en-US" b="0" i="0" dirty="0">
                <a:solidFill>
                  <a:srgbClr val="253858"/>
                </a:solidFill>
                <a:effectLst/>
                <a:latin typeface="Times New Roman" panose="02020603050405020304" pitchFamily="18" charset="0"/>
                <a:cs typeface="Times New Roman" panose="02020603050405020304" pitchFamily="18" charset="0"/>
              </a:rPr>
              <a:t>Git checkout :  </a:t>
            </a:r>
            <a:r>
              <a:rPr lang="en-US" b="0" i="0" dirty="0">
                <a:solidFill>
                  <a:srgbClr val="42526E"/>
                </a:solidFill>
                <a:effectLst/>
                <a:latin typeface="Times New Roman" panose="02020603050405020304" pitchFamily="18" charset="0"/>
                <a:cs typeface="Times New Roman" panose="02020603050405020304" pitchFamily="18" charset="0"/>
              </a:rPr>
              <a:t>In addition to checking out old commits and old file revisions, git checkout is also the means to navigate existing branches. Combined with the basic Git commands, it’s a way to work on a particular line of development.</a:t>
            </a:r>
          </a:p>
          <a:p>
            <a:pPr algn="l" fontAlgn="base"/>
            <a:r>
              <a:rPr lang="en-US" b="0" i="0" dirty="0">
                <a:solidFill>
                  <a:srgbClr val="253858"/>
                </a:solidFill>
                <a:effectLst/>
                <a:latin typeface="Times New Roman" panose="02020603050405020304" pitchFamily="18" charset="0"/>
                <a:cs typeface="Times New Roman" panose="02020603050405020304" pitchFamily="18" charset="0"/>
              </a:rPr>
              <a:t>Git branch: </a:t>
            </a:r>
            <a:r>
              <a:rPr lang="en-US" b="0" i="0" dirty="0">
                <a:solidFill>
                  <a:srgbClr val="42526E"/>
                </a:solidFill>
                <a:effectLst/>
                <a:latin typeface="Times New Roman" panose="02020603050405020304" pitchFamily="18" charset="0"/>
                <a:cs typeface="Times New Roman" panose="02020603050405020304" pitchFamily="18" charset="0"/>
              </a:rPr>
              <a:t>This command is your general-purpose branch administration tool. It lets you create isolated development environments within a single repository.</a:t>
            </a:r>
          </a:p>
          <a:p>
            <a:pPr algn="l" fontAlgn="base"/>
            <a:r>
              <a:rPr lang="en-US" b="0" i="0" dirty="0">
                <a:solidFill>
                  <a:srgbClr val="253858"/>
                </a:solidFill>
                <a:effectLst/>
                <a:latin typeface="Times New Roman" panose="02020603050405020304" pitchFamily="18" charset="0"/>
                <a:cs typeface="Times New Roman" panose="02020603050405020304" pitchFamily="18" charset="0"/>
              </a:rPr>
              <a:t>Git add: </a:t>
            </a:r>
            <a:r>
              <a:rPr lang="en-US" b="0" i="0" dirty="0">
                <a:solidFill>
                  <a:srgbClr val="42526E"/>
                </a:solidFill>
                <a:effectLst/>
                <a:latin typeface="Times New Roman" panose="02020603050405020304" pitchFamily="18" charset="0"/>
                <a:cs typeface="Times New Roman" panose="02020603050405020304" pitchFamily="18" charset="0"/>
              </a:rPr>
              <a:t>Moves changes from the working directory to the staging area. This gives you the opportunity to prepare a snapshot before committing it to the official history.</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696BA4A-BAD4-7DA8-065B-DEC3796EBE58}"/>
              </a:ext>
            </a:extLst>
          </p:cNvPr>
          <p:cNvSpPr>
            <a:spLocks noGrp="1"/>
          </p:cNvSpPr>
          <p:nvPr>
            <p:ph type="sldNum" sz="quarter" idx="12"/>
          </p:nvPr>
        </p:nvSpPr>
        <p:spPr/>
        <p:txBody>
          <a:bodyPr/>
          <a:lstStyle/>
          <a:p>
            <a:fld id="{96B25217-7B33-4CF6-9B9E-82FF272E23C8}" type="slidenum">
              <a:rPr lang="en-IN" smtClean="0"/>
              <a:t>21</a:t>
            </a:fld>
            <a:endParaRPr lang="en-IN"/>
          </a:p>
        </p:txBody>
      </p:sp>
    </p:spTree>
    <p:extLst>
      <p:ext uri="{BB962C8B-B14F-4D97-AF65-F5344CB8AC3E}">
        <p14:creationId xmlns:p14="http://schemas.microsoft.com/office/powerpoint/2010/main" val="3116932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93B2A-23CD-79E8-C2FC-2ED9144377EF}"/>
              </a:ext>
            </a:extLst>
          </p:cNvPr>
          <p:cNvSpPr>
            <a:spLocks noGrp="1"/>
          </p:cNvSpPr>
          <p:nvPr>
            <p:ph type="title"/>
          </p:nvPr>
        </p:nvSpPr>
        <p:spPr/>
        <p:txBody>
          <a:bodyPr/>
          <a:lstStyle/>
          <a:p>
            <a:r>
              <a:rPr lang="en-IN" dirty="0"/>
              <a:t>Git References</a:t>
            </a:r>
          </a:p>
        </p:txBody>
      </p:sp>
      <p:sp>
        <p:nvSpPr>
          <p:cNvPr id="3" name="Content Placeholder 2">
            <a:extLst>
              <a:ext uri="{FF2B5EF4-FFF2-40B4-BE49-F238E27FC236}">
                <a16:creationId xmlns:a16="http://schemas.microsoft.com/office/drawing/2014/main" id="{89A6E4C4-25D3-A574-252D-0728E301C49D}"/>
              </a:ext>
            </a:extLst>
          </p:cNvPr>
          <p:cNvSpPr>
            <a:spLocks noGrp="1"/>
          </p:cNvSpPr>
          <p:nvPr>
            <p:ph idx="1"/>
          </p:nvPr>
        </p:nvSpPr>
        <p:spPr/>
        <p:txBody>
          <a:bodyPr/>
          <a:lstStyle/>
          <a:p>
            <a:r>
              <a:rPr lang="en-IN" dirty="0">
                <a:hlinkClick r:id="rId2"/>
              </a:rPr>
              <a:t>https://www.atlassian.com/git/glossary#commands</a:t>
            </a:r>
            <a:endParaRPr lang="en-IN" dirty="0"/>
          </a:p>
          <a:p>
            <a:r>
              <a:rPr lang="en-IN" dirty="0">
                <a:hlinkClick r:id="rId3"/>
              </a:rPr>
              <a:t>https://git-scm.com/docs/git</a:t>
            </a:r>
            <a:endParaRPr lang="en-IN" dirty="0"/>
          </a:p>
          <a:p>
            <a:r>
              <a:rPr lang="en-IN" dirty="0">
                <a:hlinkClick r:id="rId4"/>
              </a:rPr>
              <a:t>https://dzone.com/articles/top-20-git-commands-with-examples</a:t>
            </a:r>
            <a:endParaRPr lang="en-IN" dirty="0"/>
          </a:p>
          <a:p>
            <a:endParaRPr lang="en-IN" dirty="0"/>
          </a:p>
          <a:p>
            <a:r>
              <a:rPr lang="en-IN" dirty="0">
                <a:hlinkClick r:id="rId5"/>
              </a:rPr>
              <a:t>https://www.javatpoint.com/git-commands</a:t>
            </a:r>
            <a:endParaRPr lang="en-IN" dirty="0"/>
          </a:p>
          <a:p>
            <a:endParaRPr lang="en-IN" dirty="0"/>
          </a:p>
          <a:p>
            <a:endParaRPr lang="en-IN" dirty="0"/>
          </a:p>
        </p:txBody>
      </p:sp>
      <p:sp>
        <p:nvSpPr>
          <p:cNvPr id="5" name="Slide Number Placeholder 4">
            <a:extLst>
              <a:ext uri="{FF2B5EF4-FFF2-40B4-BE49-F238E27FC236}">
                <a16:creationId xmlns:a16="http://schemas.microsoft.com/office/drawing/2014/main" id="{A7CC2D93-8C07-87CB-ECFB-24752AF2899D}"/>
              </a:ext>
            </a:extLst>
          </p:cNvPr>
          <p:cNvSpPr>
            <a:spLocks noGrp="1"/>
          </p:cNvSpPr>
          <p:nvPr>
            <p:ph type="sldNum" sz="quarter" idx="12"/>
          </p:nvPr>
        </p:nvSpPr>
        <p:spPr/>
        <p:txBody>
          <a:bodyPr/>
          <a:lstStyle/>
          <a:p>
            <a:fld id="{96B25217-7B33-4CF6-9B9E-82FF272E23C8}" type="slidenum">
              <a:rPr lang="en-IN" smtClean="0"/>
              <a:t>22</a:t>
            </a:fld>
            <a:endParaRPr lang="en-IN"/>
          </a:p>
        </p:txBody>
      </p:sp>
    </p:spTree>
    <p:extLst>
      <p:ext uri="{BB962C8B-B14F-4D97-AF65-F5344CB8AC3E}">
        <p14:creationId xmlns:p14="http://schemas.microsoft.com/office/powerpoint/2010/main" val="20363855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6964</TotalTime>
  <Words>647</Words>
  <Application>Microsoft Office PowerPoint</Application>
  <PresentationFormat>Widescreen</PresentationFormat>
  <Paragraphs>52</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Calibri</vt:lpstr>
      <vt:lpstr>Calibri Light</vt:lpstr>
      <vt:lpstr>Charlie Display</vt:lpstr>
      <vt:lpstr>Times New Roman</vt:lpstr>
      <vt:lpstr>Retrospect</vt:lpstr>
      <vt:lpstr>GitHub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Git Commands</vt:lpstr>
      <vt:lpstr>Git Commands</vt:lpstr>
      <vt:lpstr>Git Commands</vt:lpstr>
      <vt:lpstr>Git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Pulivarthi Paramatma</dc:creator>
  <cp:lastModifiedBy>lakshmi pulivarthi</cp:lastModifiedBy>
  <cp:revision>84</cp:revision>
  <dcterms:created xsi:type="dcterms:W3CDTF">2024-02-21T14:29:33Z</dcterms:created>
  <dcterms:modified xsi:type="dcterms:W3CDTF">2025-10-11T20:17:14Z</dcterms:modified>
</cp:coreProperties>
</file>