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7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Definition: Bridge between systems.</a:t>
            </a:r>
          </a:p>
          <a:p>
            <a:pPr>
              <a:defRPr sz="1800"/>
            </a:pPr>
            <a:r>
              <a:rPr dirty="0"/>
              <a:t>Purpose: Enables communication.</a:t>
            </a:r>
          </a:p>
          <a:p>
            <a:pPr>
              <a:defRPr sz="1800"/>
            </a:pPr>
            <a:r>
              <a:rPr dirty="0"/>
              <a:t>Example: Mobile app fetching server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APIs (Architecture)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REST: Uses HTTP, JSON.</a:t>
            </a:r>
          </a:p>
          <a:p>
            <a:pPr>
              <a:defRPr sz="1800"/>
            </a:pPr>
            <a:r>
              <a:t>SOAP: XML, strict rules.</a:t>
            </a:r>
          </a:p>
          <a:p>
            <a:pPr>
              <a:defRPr sz="1800"/>
            </a:pPr>
            <a:r>
              <a:t>GraphQL: Flexible queries.</a:t>
            </a:r>
          </a:p>
          <a:p>
            <a:pPr>
              <a:defRPr sz="1800"/>
            </a:pPr>
            <a:r>
              <a:t>gRPC: Protocol Buffers.</a:t>
            </a:r>
          </a:p>
          <a:p>
            <a:pPr>
              <a:defRPr sz="1800"/>
            </a:pPr>
            <a:r>
              <a:t>WebSocket: Real-time connection.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APIs (Access)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Open: Publicly available.</a:t>
            </a:r>
          </a:p>
          <a:p>
            <a:pPr>
              <a:defRPr sz="1800"/>
            </a:pPr>
            <a:r>
              <a:t>Partner: For business partners.</a:t>
            </a:r>
          </a:p>
          <a:p>
            <a:pPr>
              <a:defRPr sz="1800"/>
            </a:pPr>
            <a:r>
              <a:t>Private: Internal use.</a:t>
            </a:r>
          </a:p>
          <a:p>
            <a:pPr>
              <a:defRPr sz="1800"/>
            </a:pPr>
            <a:r>
              <a:t>Composite: Combines multiple APIs.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HTTP Status Code Categories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6E9FF03-9ACF-3005-4B4C-28B0919D175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805781"/>
          <a:ext cx="8229600" cy="4114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771805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55898523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9443953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512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1xx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100–199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Informational (request received, continuing process)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189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2xx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200–299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Success — request completed successfully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7276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3xx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300–399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Redirection — resource moved or needs new 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336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4xx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400–499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Client Error — problem with request (your side)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91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5xx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500–599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Server Error — problem with server 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7862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Success Codes (2xx)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6FA3219-B15D-55FB-BBBD-5CF7FCE2B18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2400141"/>
          <a:ext cx="8229600" cy="29260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86860739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73324748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5160839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 / Notes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096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200 OK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Request successful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GET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/users/123</a:t>
                      </a:r>
                      <a:r>
                        <a:rPr lang="en-US"/>
                        <a:t> returns user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628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201 Created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New resource created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POST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/users</a:t>
                      </a:r>
                      <a:r>
                        <a:rPr lang="en-US"/>
                        <a:t> adds a new user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1422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202 Accepted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Request accepted for processing (async)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Long-running job started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362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204 No Content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Success, but no data returned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DELETE 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/users/123</a:t>
                      </a:r>
                      <a:r>
                        <a:rPr lang="en-IN" dirty="0"/>
                        <a:t> completed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20934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B0E06-FCF3-1990-6996-080E138FE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Redirection Codes (3xx)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A21722A-C2EA-FAF8-9482-00CF87FCDB4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2994501"/>
          <a:ext cx="8229600" cy="17373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7334396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14622271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5178804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52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301 Moved Permanently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Resource moved to a new URL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new endpoint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94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302 Found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Temporary redirect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Used during URL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149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304 Not Modified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Cached resource still valid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API didn’t send data again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317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2406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Error Codes (4xx)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DAB8C32-C6E6-AF70-3E24-3B603A0D33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1687383"/>
              </p:ext>
            </p:extLst>
          </p:nvPr>
        </p:nvGraphicFramePr>
        <p:xfrm>
          <a:off x="1002890" y="1417637"/>
          <a:ext cx="7683912" cy="5002825"/>
        </p:xfrm>
        <a:graphic>
          <a:graphicData uri="http://schemas.openxmlformats.org/drawingml/2006/table">
            <a:tbl>
              <a:tblPr/>
              <a:tblGrid>
                <a:gridCol w="1920978">
                  <a:extLst>
                    <a:ext uri="{9D8B030D-6E8A-4147-A177-3AD203B41FA5}">
                      <a16:colId xmlns:a16="http://schemas.microsoft.com/office/drawing/2014/main" val="1834826827"/>
                    </a:ext>
                  </a:extLst>
                </a:gridCol>
                <a:gridCol w="1920978">
                  <a:extLst>
                    <a:ext uri="{9D8B030D-6E8A-4147-A177-3AD203B41FA5}">
                      <a16:colId xmlns:a16="http://schemas.microsoft.com/office/drawing/2014/main" val="989582044"/>
                    </a:ext>
                  </a:extLst>
                </a:gridCol>
                <a:gridCol w="1920978">
                  <a:extLst>
                    <a:ext uri="{9D8B030D-6E8A-4147-A177-3AD203B41FA5}">
                      <a16:colId xmlns:a16="http://schemas.microsoft.com/office/drawing/2014/main" val="941711111"/>
                    </a:ext>
                  </a:extLst>
                </a:gridCol>
                <a:gridCol w="1920978">
                  <a:extLst>
                    <a:ext uri="{9D8B030D-6E8A-4147-A177-3AD203B41FA5}">
                      <a16:colId xmlns:a16="http://schemas.microsoft.com/office/drawing/2014/main" val="613042885"/>
                    </a:ext>
                  </a:extLst>
                </a:gridCol>
              </a:tblGrid>
              <a:tr h="202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Code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Meaning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Common Cause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Example / Fix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377435"/>
                  </a:ext>
                </a:extLst>
              </a:tr>
              <a:tr h="353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400 Bad Request</a:t>
                      </a:r>
                      <a:endParaRPr lang="en-IN" sz="900"/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Invalid syntax or malformed JSON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Missing comma, wrong format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✅ Validate request body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299005"/>
                  </a:ext>
                </a:extLst>
              </a:tr>
              <a:tr h="353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401 Unauthorized</a:t>
                      </a:r>
                      <a:endParaRPr lang="en-IN" sz="900"/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No valid authentication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Missing or wrong token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✅ Include correct API key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707155"/>
                  </a:ext>
                </a:extLst>
              </a:tr>
              <a:tr h="353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403 Forbidden</a:t>
                      </a:r>
                      <a:endParaRPr lang="en-IN" sz="900"/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Authenticated but no permission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Trying to access restricted data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✅ Check user role / scope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996469"/>
                  </a:ext>
                </a:extLst>
              </a:tr>
              <a:tr h="5053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404 Not Found</a:t>
                      </a:r>
                      <a:endParaRPr lang="en-IN" sz="900"/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Endpoint or resource doesn’t exist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Wrong URL or ID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✅ Verify endpoint and parameters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5619654"/>
                  </a:ext>
                </a:extLst>
              </a:tr>
              <a:tr h="353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405 Method Not Allowed</a:t>
                      </a:r>
                      <a:endParaRPr lang="en-IN" sz="900"/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HTTP method not supported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Using POST on a GET-only API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✅ Use correct method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687289"/>
                  </a:ext>
                </a:extLst>
              </a:tr>
              <a:tr h="5053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406 Not Acceptable</a:t>
                      </a:r>
                      <a:endParaRPr lang="en-IN" sz="900"/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Server can’t send in requested format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Wrong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Accept</a:t>
                      </a:r>
                      <a:r>
                        <a:rPr lang="en-IN" sz="900"/>
                        <a:t> header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✅ Use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Accept: application/json</a:t>
                      </a:r>
                      <a:endParaRPr lang="en-IN" sz="900"/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675089"/>
                  </a:ext>
                </a:extLst>
              </a:tr>
              <a:tr h="353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408 Request Timeout</a:t>
                      </a:r>
                      <a:endParaRPr lang="en-IN" sz="900"/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Request took too long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Network or large payload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✅ Optimize request or retry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622709"/>
                  </a:ext>
                </a:extLst>
              </a:tr>
              <a:tr h="353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409 Conflict</a:t>
                      </a:r>
                      <a:endParaRPr lang="en-IN" sz="900"/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Resource conflict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Duplicate record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✅ Handle versioning or retry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709322"/>
                  </a:ext>
                </a:extLst>
              </a:tr>
              <a:tr h="5053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410 Gone</a:t>
                      </a:r>
                      <a:endParaRPr lang="en-IN" sz="900"/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Resource permanently removed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Deprecated endpoint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✅ Update to new API version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649557"/>
                  </a:ext>
                </a:extLst>
              </a:tr>
              <a:tr h="656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415 Unsupported Media Type</a:t>
                      </a:r>
                      <a:endParaRPr lang="en-IN" sz="900"/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Wrong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Content-Type</a:t>
                      </a:r>
                      <a:r>
                        <a:rPr lang="en-IN" sz="900"/>
                        <a:t> header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Sending XML instead of JSON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✅ Use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Content-Type: application/json</a:t>
                      </a:r>
                      <a:endParaRPr lang="en-IN" sz="900"/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732344"/>
                  </a:ext>
                </a:extLst>
              </a:tr>
              <a:tr h="5053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429 Too Many Requests</a:t>
                      </a:r>
                      <a:endParaRPr lang="en-IN" sz="900"/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Rate limit exceeded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Too many calls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✅ Add delay or use API quota wisely</a:t>
                      </a:r>
                    </a:p>
                  </a:txBody>
                  <a:tcPr marL="45717" marR="45717" marT="22858" marB="228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10427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Error Codes (5xx)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7A1A5BD-A2C9-57DE-524D-B185EC8D6C7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68940" y="1600200"/>
          <a:ext cx="7406120" cy="4525963"/>
        </p:xfrm>
        <a:graphic>
          <a:graphicData uri="http://schemas.openxmlformats.org/drawingml/2006/table">
            <a:tbl>
              <a:tblPr/>
              <a:tblGrid>
                <a:gridCol w="1851530">
                  <a:extLst>
                    <a:ext uri="{9D8B030D-6E8A-4147-A177-3AD203B41FA5}">
                      <a16:colId xmlns:a16="http://schemas.microsoft.com/office/drawing/2014/main" val="1920368482"/>
                    </a:ext>
                  </a:extLst>
                </a:gridCol>
                <a:gridCol w="1851530">
                  <a:extLst>
                    <a:ext uri="{9D8B030D-6E8A-4147-A177-3AD203B41FA5}">
                      <a16:colId xmlns:a16="http://schemas.microsoft.com/office/drawing/2014/main" val="3618674954"/>
                    </a:ext>
                  </a:extLst>
                </a:gridCol>
                <a:gridCol w="1851530">
                  <a:extLst>
                    <a:ext uri="{9D8B030D-6E8A-4147-A177-3AD203B41FA5}">
                      <a16:colId xmlns:a16="http://schemas.microsoft.com/office/drawing/2014/main" val="1732608053"/>
                    </a:ext>
                  </a:extLst>
                </a:gridCol>
                <a:gridCol w="1851530">
                  <a:extLst>
                    <a:ext uri="{9D8B030D-6E8A-4147-A177-3AD203B41FA5}">
                      <a16:colId xmlns:a16="http://schemas.microsoft.com/office/drawing/2014/main" val="302242055"/>
                    </a:ext>
                  </a:extLst>
                </a:gridCol>
              </a:tblGrid>
              <a:tr h="329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Code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Meaning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Common Cause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Example / Fix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637604"/>
                  </a:ext>
                </a:extLst>
              </a:tr>
              <a:tr h="576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500 Internal Server Error</a:t>
                      </a:r>
                      <a:endParaRPr lang="en-IN" sz="1600"/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Unexpected issue on server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Code bug, crash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❗ Contact API provider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208113"/>
                  </a:ext>
                </a:extLst>
              </a:tr>
              <a:tr h="576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501 Not Implemented</a:t>
                      </a:r>
                      <a:endParaRPr lang="en-IN" sz="1600"/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Method not supported by server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Using new feature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✅ Use supported method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3064200"/>
                  </a:ext>
                </a:extLst>
              </a:tr>
              <a:tr h="822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502 Bad Gateway</a:t>
                      </a:r>
                      <a:endParaRPr lang="en-IN" sz="1600"/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Invalid response from upstream server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Load balancer or proxy error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✅ Retry later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3902554"/>
                  </a:ext>
                </a:extLst>
              </a:tr>
              <a:tr h="822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503 Service Unavailable</a:t>
                      </a:r>
                      <a:endParaRPr lang="en-IN" sz="1600"/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Server overloaded or under maintenance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Downtime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✅ Retry with backoff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92893"/>
                  </a:ext>
                </a:extLst>
              </a:tr>
              <a:tr h="822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504 Gateway Timeout</a:t>
                      </a:r>
                      <a:endParaRPr lang="en-IN" sz="1600"/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Upstream server didn’t respond in time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Network delay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✅ Retry later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013261"/>
                  </a:ext>
                </a:extLst>
              </a:tr>
              <a:tr h="576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505 HTTP Version Not Supported</a:t>
                      </a:r>
                      <a:endParaRPr lang="en-US" sz="1600"/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Old client version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Obsolete HTTP 1.0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✅ Upgrade client library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67585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JSON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{</a:t>
            </a:r>
          </a:p>
          <a:p>
            <a:pPr>
              <a:defRPr sz="1800"/>
            </a:pPr>
            <a:r>
              <a:t> "status": 404,</a:t>
            </a:r>
          </a:p>
          <a:p>
            <a:pPr>
              <a:defRPr sz="1800"/>
            </a:pPr>
            <a:r>
              <a:t> "error": "Not Found",</a:t>
            </a:r>
          </a:p>
          <a:p>
            <a:pPr>
              <a:defRPr sz="1800"/>
            </a:pPr>
            <a:r>
              <a:t> "message": "User ID 987 not found",</a:t>
            </a:r>
          </a:p>
          <a:p>
            <a:pPr>
              <a:defRPr sz="1800"/>
            </a:pPr>
            <a:r>
              <a:t> "path": "/api/users/987",</a:t>
            </a:r>
          </a:p>
          <a:p>
            <a:pPr>
              <a:defRPr sz="1800"/>
            </a:pPr>
            <a:r>
              <a:t> "timestamp": "2025-11-03T18:45:12Z"</a:t>
            </a:r>
          </a:p>
          <a:p>
            <a:pPr>
              <a:defRPr sz="1800"/>
            </a:pPr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Handling Best Practices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AFC21EF-A9ED-3DDD-E329-1EFFB348037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2445861"/>
          <a:ext cx="8229600" cy="28346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70163575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41514852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 Practice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039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Validation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Validate inputs before sending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91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Retry logic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Retry only on 5xx, 408, or 429 errors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6846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Logging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Log error responses for debugging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273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User messages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Don’t show raw errors to end users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70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Rate limiting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Implement exponential backoff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6718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Monitoring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Track API error trends via logs or dashboards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89369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279CE2-5001-442A-E072-51BFA50E20CA}"/>
              </a:ext>
            </a:extLst>
          </p:cNvPr>
          <p:cNvSpPr txBox="1"/>
          <p:nvPr/>
        </p:nvSpPr>
        <p:spPr>
          <a:xfrm>
            <a:off x="1170039" y="1091382"/>
            <a:ext cx="568796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requests</a:t>
            </a:r>
          </a:p>
          <a:p>
            <a:endParaRPr lang="en-IN" dirty="0"/>
          </a:p>
          <a:p>
            <a:r>
              <a:rPr lang="en-IN" dirty="0" err="1"/>
              <a:t>url</a:t>
            </a:r>
            <a:r>
              <a:rPr lang="en-IN" dirty="0"/>
              <a:t> = "https://api.example.com/users/123"</a:t>
            </a:r>
          </a:p>
          <a:p>
            <a:r>
              <a:rPr lang="en-IN" dirty="0"/>
              <a:t>response = </a:t>
            </a:r>
            <a:r>
              <a:rPr lang="en-IN" dirty="0" err="1"/>
              <a:t>requests.get</a:t>
            </a:r>
            <a:r>
              <a:rPr lang="en-IN" dirty="0"/>
              <a:t>(</a:t>
            </a:r>
            <a:r>
              <a:rPr lang="en-IN" dirty="0" err="1"/>
              <a:t>url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if </a:t>
            </a:r>
            <a:r>
              <a:rPr lang="en-IN" dirty="0" err="1"/>
              <a:t>response.status_code</a:t>
            </a:r>
            <a:r>
              <a:rPr lang="en-IN" dirty="0"/>
              <a:t> == 200:</a:t>
            </a:r>
          </a:p>
          <a:p>
            <a:r>
              <a:rPr lang="en-IN" dirty="0"/>
              <a:t>    print("✅ Success:", </a:t>
            </a:r>
            <a:r>
              <a:rPr lang="en-IN" dirty="0" err="1"/>
              <a:t>response.json</a:t>
            </a:r>
            <a:r>
              <a:rPr lang="en-IN" dirty="0"/>
              <a:t>())</a:t>
            </a:r>
          </a:p>
          <a:p>
            <a:r>
              <a:rPr lang="en-IN" dirty="0" err="1"/>
              <a:t>elif</a:t>
            </a:r>
            <a:r>
              <a:rPr lang="en-IN" dirty="0"/>
              <a:t> </a:t>
            </a:r>
            <a:r>
              <a:rPr lang="en-IN" dirty="0" err="1"/>
              <a:t>response.status_code</a:t>
            </a:r>
            <a:r>
              <a:rPr lang="en-IN" dirty="0"/>
              <a:t> == 404:</a:t>
            </a:r>
          </a:p>
          <a:p>
            <a:r>
              <a:rPr lang="en-IN" dirty="0"/>
              <a:t>    print("❌ Error: User not found.")</a:t>
            </a:r>
          </a:p>
          <a:p>
            <a:r>
              <a:rPr lang="en-IN" dirty="0" err="1"/>
              <a:t>elif</a:t>
            </a:r>
            <a:r>
              <a:rPr lang="en-IN" dirty="0"/>
              <a:t> </a:t>
            </a:r>
            <a:r>
              <a:rPr lang="en-IN" dirty="0" err="1"/>
              <a:t>response.status_code</a:t>
            </a:r>
            <a:r>
              <a:rPr lang="en-IN" dirty="0"/>
              <a:t> == 401:</a:t>
            </a:r>
          </a:p>
          <a:p>
            <a:r>
              <a:rPr lang="en-IN" dirty="0"/>
              <a:t>    print("🔐 Unauthorized. Check your API key.")</a:t>
            </a:r>
          </a:p>
          <a:p>
            <a:r>
              <a:rPr lang="en-IN" dirty="0"/>
              <a:t>else:</a:t>
            </a:r>
          </a:p>
          <a:p>
            <a:r>
              <a:rPr lang="en-IN" dirty="0"/>
              <a:t>    print(f"⚠️ Unexpected error {</a:t>
            </a:r>
            <a:r>
              <a:rPr lang="en-IN" dirty="0" err="1"/>
              <a:t>response.status_code</a:t>
            </a:r>
            <a:r>
              <a:rPr lang="en-IN" dirty="0"/>
              <a:t>}: {</a:t>
            </a:r>
            <a:r>
              <a:rPr lang="en-IN" dirty="0" err="1"/>
              <a:t>response.text</a:t>
            </a:r>
            <a:r>
              <a:rPr lang="en-IN" dirty="0"/>
              <a:t>}")</a:t>
            </a:r>
          </a:p>
        </p:txBody>
      </p:sp>
    </p:spTree>
    <p:extLst>
      <p:ext uri="{BB962C8B-B14F-4D97-AF65-F5344CB8AC3E}">
        <p14:creationId xmlns:p14="http://schemas.microsoft.com/office/powerpoint/2010/main" val="2393011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APIs connect systems.</a:t>
            </a:r>
          </a:p>
          <a:p>
            <a:pPr>
              <a:defRPr sz="1800"/>
            </a:pPr>
            <a:r>
              <a:t>Know error categories.</a:t>
            </a:r>
          </a:p>
          <a:p>
            <a:pPr>
              <a:defRPr sz="1800"/>
            </a:pPr>
            <a:r>
              <a:t>Handle 4xx vs 5xx differently.</a:t>
            </a:r>
          </a:p>
          <a:p>
            <a:pPr>
              <a:defRPr sz="1800"/>
            </a:pPr>
            <a:r>
              <a:t>Use logging and retry logic.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763</Words>
  <Application>Microsoft Office PowerPoint</Application>
  <PresentationFormat>On-screen Show (4:3)</PresentationFormat>
  <Paragraphs>182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Introduction to APIs</vt:lpstr>
      <vt:lpstr>Types of APIs (Architecture)</vt:lpstr>
      <vt:lpstr>Types of APIs (Access)</vt:lpstr>
      <vt:lpstr>HTTP Status Code Categories</vt:lpstr>
      <vt:lpstr>Common Success Codes (2xx)</vt:lpstr>
      <vt:lpstr>Redirection Codes (3xx)</vt:lpstr>
      <vt:lpstr>Client Error Codes (4xx)</vt:lpstr>
      <vt:lpstr>Server Error Codes (5xx)</vt:lpstr>
      <vt:lpstr>Example JSON Error</vt:lpstr>
      <vt:lpstr>Error Handling Best Practices</vt:lpstr>
      <vt:lpstr>PowerPoint Presentation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lakshmi pulivarthi</cp:lastModifiedBy>
  <cp:revision>3</cp:revision>
  <dcterms:created xsi:type="dcterms:W3CDTF">2013-01-27T09:14:16Z</dcterms:created>
  <dcterms:modified xsi:type="dcterms:W3CDTF">2025-11-02T19:35:47Z</dcterms:modified>
  <cp:category/>
</cp:coreProperties>
</file>